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281d11103ce4a98" /><Relationship Type="http://schemas.openxmlformats.org/officeDocument/2006/relationships/extended-properties" Target="/docProps/app.xml" Id="R04da2f0aa73b405f" /><Relationship Type="http://schemas.openxmlformats.org/officeDocument/2006/relationships/officeDocument" Target="/ppt/presentation.xml" Id="R84f8f94fea574795" /></Relationships>
</file>

<file path=ppt/presentation.xml><?xml version="1.0" encoding="utf-8"?>
<p:presentation xmlns:p="http://schemas.openxmlformats.org/presentationml/2006/main">
  <p:sldMasterIdLst>
    <p:sldMasterId xmlns:r="http://schemas.openxmlformats.org/officeDocument/2006/relationships" id="2147483648" r:id="Rfc3e86416d63494d"/>
  </p:sldMasterIdLst>
  <p:notesMasterIdLst>
    <p:notesMasterId xmlns:r="http://schemas.openxmlformats.org/officeDocument/2006/relationships" r:id="Rdc2802529ae34efc"/>
  </p:notesMasterIdLst>
  <p:sldIdLst>
    <p:sldId xmlns:r="http://schemas.openxmlformats.org/officeDocument/2006/relationships" id="256" r:id="R5dda6671214c4dcc"/>
    <p:sldId xmlns:r="http://schemas.openxmlformats.org/officeDocument/2006/relationships" id="257" r:id="Rbca1f5864fec444f"/>
    <p:sldId xmlns:r="http://schemas.openxmlformats.org/officeDocument/2006/relationships" id="258" r:id="Rbcc43f58b3a34564"/>
    <p:sldId xmlns:r="http://schemas.openxmlformats.org/officeDocument/2006/relationships" id="259" r:id="Red32cd54eb70406c"/>
    <p:sldId xmlns:r="http://schemas.openxmlformats.org/officeDocument/2006/relationships" id="260" r:id="R3cb12b770e1244fb"/>
    <p:sldId xmlns:r="http://schemas.openxmlformats.org/officeDocument/2006/relationships" id="261" r:id="R943c11a7eda74c7b"/>
    <p:sldId xmlns:r="http://schemas.openxmlformats.org/officeDocument/2006/relationships" id="262" r:id="R916a8fcbd11d47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60b90c741a4bfe" /><Relationship Type="http://schemas.openxmlformats.org/officeDocument/2006/relationships/slideMaster" Target="/ppt/slideMasters/slideMaster1.xml" Id="Rfc3e86416d63494d" /><Relationship Type="http://schemas.openxmlformats.org/officeDocument/2006/relationships/notesMaster" Target="/ppt/notesMasters/notesMaster1.xml" Id="Rdc2802529ae34efc" /><Relationship Type="http://schemas.openxmlformats.org/officeDocument/2006/relationships/presProps" Target="/ppt/presProps.xml" Id="Rac1792519bb04bb4" /><Relationship Type="http://schemas.openxmlformats.org/officeDocument/2006/relationships/tableStyles" Target="/ppt/tableStyles.xml" Id="Rd2d8ddfce57d4a50" /><Relationship Type="http://schemas.openxmlformats.org/officeDocument/2006/relationships/slide" Target="/ppt/slides/slide1.xml" Id="R5dda6671214c4dcc" /><Relationship Type="http://schemas.openxmlformats.org/officeDocument/2006/relationships/slide" Target="/ppt/slides/slide2.xml" Id="Rbca1f5864fec444f" /><Relationship Type="http://schemas.openxmlformats.org/officeDocument/2006/relationships/slide" Target="/ppt/slides/slide3.xml" Id="Rbcc43f58b3a34564" /><Relationship Type="http://schemas.openxmlformats.org/officeDocument/2006/relationships/slide" Target="/ppt/slides/slide4.xml" Id="Red32cd54eb70406c" /><Relationship Type="http://schemas.openxmlformats.org/officeDocument/2006/relationships/slide" Target="/ppt/slides/slide5.xml" Id="R3cb12b770e1244fb" /><Relationship Type="http://schemas.openxmlformats.org/officeDocument/2006/relationships/slide" Target="/ppt/slides/slide6.xml" Id="R943c11a7eda74c7b" /><Relationship Type="http://schemas.openxmlformats.org/officeDocument/2006/relationships/slide" Target="/ppt/slides/slide7.xml" Id="R916a8fcbd11d47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1fbc4bbfc847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f2af86846a42f9" /><Relationship Type="http://schemas.openxmlformats.org/officeDocument/2006/relationships/notesMaster" Target="/ppt/notesMasters/notesMaster1.xml" Id="Rb2b618dcdbb5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b99f8cbc184b7c" /><Relationship Type="http://schemas.openxmlformats.org/officeDocument/2006/relationships/notesMaster" Target="/ppt/notesMasters/notesMaster1.xml" Id="R33a48de89d3449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74ee42eb064c42" /><Relationship Type="http://schemas.openxmlformats.org/officeDocument/2006/relationships/notesMaster" Target="/ppt/notesMasters/notesMaster1.xml" Id="Rf3e06095a17b40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7b51ad9c6c497e" /><Relationship Type="http://schemas.openxmlformats.org/officeDocument/2006/relationships/notesMaster" Target="/ppt/notesMasters/notesMaster1.xml" Id="R13d7e03a2ef846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a09da1a2e146aa" /><Relationship Type="http://schemas.openxmlformats.org/officeDocument/2006/relationships/notesMaster" Target="/ppt/notesMasters/notesMaster1.xml" Id="R4e0af71311c0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70eef6435e47ef" /><Relationship Type="http://schemas.openxmlformats.org/officeDocument/2006/relationships/notesMaster" Target="/ppt/notesMasters/notesMaster1.xml" Id="R5dc02c8ee16d46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640e55207d4168" /><Relationship Type="http://schemas.openxmlformats.org/officeDocument/2006/relationships/notesMaster" Target="/ppt/notesMasters/notesMaster1.xml" Id="Ra19d2eb812804f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Contexto y aportación · 0:00-0:35</a:t>
            </a:r>
          </a:p>
          <a:p xmlns:a="http://schemas.openxmlformats.org/drawingml/2006/main">
            <a:r>
              <a:t/>
            </a:r>
          </a:p>
          <a:p xmlns:a="http://schemas.openxmlformats.org/drawingml/2006/main">
            <a:r>
              <a:t>NARRACIÓN</a:t>
            </a:r>
          </a:p>
          <a:p xmlns:a="http://schemas.openxmlformats.org/drawingml/2006/main">
            <a:r>
              <a:t>Soy Francisco Jose Martinez Fernandez y este trabajo se ha desarrollado en colaboración con AImotional Field Theory AFT8-15, un proyecto que busca llevar un planteamiento teórico a una evaluación empírica. Mi aportación se centra en el código y la implementación de un estudio piloto sobre un modelo de lenguaje. La necesidad era disponer de un procedimiento que permitiera calcular las medidas propuestas, revisar sus resultados y comprobar hasta dónde podían interpretarse.</a:t>
            </a:r>
          </a:p>
          <a:p xmlns:a="http://schemas.openxmlformats.org/drawingml/2006/main">
            <a:r>
              <a:t/>
            </a:r>
          </a:p>
          <a:p xmlns:a="http://schemas.openxmlformats.org/drawingml/2006/main">
            <a:r>
              <a:t>FUENTES</a:t>
            </a:r>
          </a:p>
          <a:p xmlns:a="http://schemas.openxmlformats.org/drawingml/2006/main">
            <a:r>
              <a:t>Memoria revisada, portada y §§1-2. Nombre de proyecto y autor confirmados por Francisco Jose Martinez Fernandez.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Pregunta del estudio · 0:35-1:10</a:t>
            </a:r>
          </a:p>
          <a:p xmlns:a="http://schemas.openxmlformats.org/drawingml/2006/main">
            <a:r>
              <a:t/>
            </a:r>
          </a:p>
          <a:p xmlns:a="http://schemas.openxmlformats.org/drawingml/2006/main">
            <a:r>
              <a:t>NARRACIÓN</a:t>
            </a:r>
          </a:p>
          <a:p xmlns:a="http://schemas.openxmlformats.org/drawingml/2006/main">
            <a:r>
              <a:t>El piloto estudia tres señales de AFT8-15 en Mistral. La primera observa cuánto cambia la predicción del siguiente token. La segunda, cómo cambia la incertidumbre. La tercera, cómo se redistribuye la saliencia sobre el contexto anterior. La pregunta es si esas señales se relacionan con los cambios esperados en los textos. Para responder, el modelo recibe textos ya escritos: no se le pide que mantenga una conversación ni que genere una historia.</a:t>
            </a:r>
          </a:p>
          <a:p xmlns:a="http://schemas.openxmlformats.org/drawingml/2006/main">
            <a:r>
              <a:t/>
            </a:r>
          </a:p>
          <a:p xmlns:a="http://schemas.openxmlformats.org/drawingml/2006/main">
            <a:r>
              <a:t>FUENTES</a:t>
            </a:r>
          </a:p>
          <a:p xmlns:a="http://schemas.openxmlformats.org/drawingml/2006/main">
            <a:r>
              <a:t>Memoria §§5 y 8. Imagen: memoria/figuras/gxa_A011.png, derivada de outputs/diagnostics_runpod/figures/maps/A011.png. Ejemplo individual, no prueba aislada de transferencia.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Diseño del piloto · 1:10-2:00</a:t>
            </a:r>
          </a:p>
          <a:p xmlns:a="http://schemas.openxmlformats.org/drawingml/2006/main">
            <a:r>
              <a:t/>
            </a:r>
          </a:p>
          <a:p xmlns:a="http://schemas.openxmlformats.org/drawingml/2006/main">
            <a:r>
              <a:t>NARRACIÓN</a:t>
            </a:r>
          </a:p>
          <a:p xmlns:a="http://schemas.openxmlformats.org/drawingml/2006/main">
            <a:r>
              <a:t>Se utilizan treinta textos de seis versos, con objetivos definidos en el corpus. También se construyen sesenta controles reordenando esos mismos versos. En unos se mueve el verso objetivo; en otros se cambia el orden completo. Así podemos explorar si una medida sigue al contenido o mantiene una preferencia por cierta posición. Este punto es importante porque casi todos los objetivos originales están al final. Los controles ayudan a investigar esa dificultad, aunque no crean sesenta observaciones independientes nuevas. El estudio sigue siendo pequeño y diseñado para este propósito.</a:t>
            </a:r>
          </a:p>
          <a:p xmlns:a="http://schemas.openxmlformats.org/drawingml/2006/main">
            <a:r>
              <a:t/>
            </a:r>
          </a:p>
          <a:p xmlns:a="http://schemas.openxmlformats.org/drawingml/2006/main">
            <a:r>
              <a:t>FUENTES</a:t>
            </a:r>
          </a:p>
          <a:p xmlns:a="http://schemas.openxmlformats.org/drawingml/2006/main">
            <a:r>
              <a:t>Memoria §4 y config/control_design.json. Las secuencias mostradas son ejemplos conceptuales: D1 intercambia 3 y 6; D2 rota todos los versos y no deja ninguno en su posición. No representan el control de un registro particular.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Solución implementada · 2:00-2:40</a:t>
            </a:r>
          </a:p>
          <a:p xmlns:a="http://schemas.openxmlformats.org/drawingml/2006/main">
            <a:r>
              <a:t/>
            </a:r>
          </a:p>
          <a:p xmlns:a="http://schemas.openxmlformats.org/drawingml/2006/main">
            <a:r>
              <a:t>NARRACIÓN</a:t>
            </a:r>
          </a:p>
          <a:p xmlns:a="http://schemas.openxmlformats.org/drawingml/2006/main">
            <a:r>
              <a:t>La solución separa dos etapas. Primero, una GPU ejecuta Mistral y guarda las medidas por token, los resúmenes por verso y las matrices de saliencia. Después, el análisis local utiliza esos archivos para producir tablas y figuras. El extractor recibe los textos sin sus hipótesis; estas se incorporan al evaluarlos. Además, se comprueba que la tokenización conserve el texto y se registran modelo, versiones y hashes. Esta separación permite revisar el análisis sin tener que ejecutar de nuevo todo el modelo.</a:t>
            </a:r>
          </a:p>
          <a:p xmlns:a="http://schemas.openxmlformats.org/drawingml/2006/main">
            <a:r>
              <a:t/>
            </a:r>
          </a:p>
          <a:p xmlns:a="http://schemas.openxmlformats.org/drawingml/2006/main">
            <a:r>
              <a:t>FUENTES</a:t>
            </a:r>
          </a:p>
          <a:p xmlns:a="http://schemas.openxmlformats.org/drawingml/2006/main">
            <a:r>
              <a:t>Memoria §3. Código: src/aft8/corpus.py, model.py, extraction.py, analysis.py y diagnostics.py.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Resultados · 2:40-3:30</a:t>
            </a:r>
          </a:p>
          <a:p xmlns:a="http://schemas.openxmlformats.org/drawingml/2006/main">
            <a:r>
              <a:t/>
            </a:r>
          </a:p>
          <a:p xmlns:a="http://schemas.openxmlformats.org/drawingml/2006/main">
            <a:r>
              <a:t>NARRACIÓN</a:t>
            </a:r>
          </a:p>
          <a:p xmlns:a="http://schemas.openxmlformats.org/drawingml/2006/main">
            <a:r>
              <a:t>Tras restar el perfil medio por posición, se obtienen quince aciertos en cuarenta y ocho comparaciones. Pero esas comparaciones proceden de treinta textos, y no deben tratarse como observaciones independientes. Las comparaciones emparejadas con una referencia sencilla, la entropía, tampoco muestran una ventaja estadísticamente respaldada. Además, aparecen límites de interpretación: algunas medidas se concentran cerca de su máximo y los resultados de saliencia dependen de cómo se definen los objetivos y controles. La conclusión es prudente: este piloto no permite afirmar que AFT8-15 esté validado, ni demuestra que cualquier posible efecto sea inexistente.</a:t>
            </a:r>
          </a:p>
          <a:p xmlns:a="http://schemas.openxmlformats.org/drawingml/2006/main">
            <a:r>
              <a:t/>
            </a:r>
          </a:p>
          <a:p xmlns:a="http://schemas.openxmlformats.org/drawingml/2006/main">
            <a:r>
              <a:t>FUENTES</a:t>
            </a:r>
          </a:p>
          <a:p xmlns:a="http://schemas.openxmlformats.org/drawingml/2006/main">
            <a:r>
              <a:t>Memoria §7.1. outputs/analysis_runpod/paired_baselines.csv, global_descriptive.csv y nominal_binomial.csv. Paquete SHA-256: 1b8cdbe8ed7b83815fc61751ed6446266ffe3989e463604da76a3130e226087b. McNemar exacto bilateral, BH dentro de 16 comparaciones por modo. Tasas residuales, ajustadas sobre el propio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Verificación y límites · 3:30-4:10</a:t>
            </a:r>
          </a:p>
          <a:p xmlns:a="http://schemas.openxmlformats.org/drawingml/2006/main">
            <a:r>
              <a:t/>
            </a:r>
          </a:p>
          <a:p xmlns:a="http://schemas.openxmlformats.org/drawingml/2006/main">
            <a:r>
              <a:t>NARRACIÓN</a:t>
            </a:r>
          </a:p>
          <a:p xmlns:a="http://schemas.openxmlformats.org/drawingml/2006/main">
            <a:r>
              <a:t>En la parte técnica, la extracción limpia reproduce los arrays numéricos comparados con la referencia y el análisis vuelve a producir las mismas tablas. Eso aporta confianza en la consistencia de la implementación bajo las condiciones registradas. Sin embargo, reproducir un cálculo no demuestra que mida exactamente el concepto teórico que buscamos. Siguen documentadas decisiones sobre el soporte de saliencia, algunas anotaciones y el smoke de referencia. El paso siguiente es mejorar el diseño y evaluar nuevas observaciones con criterios fijados.</a:t>
            </a:r>
          </a:p>
          <a:p xmlns:a="http://schemas.openxmlformats.org/drawingml/2006/main">
            <a:r>
              <a:t/>
            </a:r>
          </a:p>
          <a:p xmlns:a="http://schemas.openxmlformats.org/drawingml/2006/main">
            <a:r>
              <a:t>FUENTES</a:t>
            </a:r>
          </a:p>
          <a:p xmlns:a="http://schemas.openxmlformats.org/drawingml/2006/main">
            <a:r>
              <a:t>Memoria §§9-10. outputs/validation_runpod/summary.json y analysis_comparison.json. Igualdad de 3240 arrays numéricos comunes de 90 textos y 23 CSV de análisis. Smoke nuevo A001/A013 verificado; la discrepancia A001/A002 del paquete de referencia se conserva abierta.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Conclusión y relación con el máster · 4:10-4:40</a:t>
            </a:r>
          </a:p>
          <a:p xmlns:a="http://schemas.openxmlformats.org/drawingml/2006/main">
            <a:r>
              <a:t/>
            </a:r>
          </a:p>
          <a:p xmlns:a="http://schemas.openxmlformats.org/drawingml/2006/main">
            <a:r>
              <a:t>NARRACIÓN</a:t>
            </a:r>
          </a:p>
          <a:p xmlns:a="http://schemas.openxmlformats.org/drawingml/2006/main">
            <a:r>
              <a:t>La aportación es una base empírica revisable para AFT8-15: código, mediciones, controles y límites explícitos. El trabajo conecta NLP, mediante tokenización, atención y modelos preentrenados, con Estadística, al distinguir descripción, comparación e inferencia. La principal lección es que ejecutar correctamente un modelo y justificar una conclusión son tareas diferentes. Este piloto permite abordar ambas y preparar un experimento posterior mejor definido.</a:t>
            </a:r>
          </a:p>
          <a:p xmlns:a="http://schemas.openxmlformats.org/drawingml/2006/main">
            <a:r>
              <a:t/>
            </a:r>
          </a:p>
          <a:p xmlns:a="http://schemas.openxmlformats.org/drawingml/2006/main">
            <a:r>
              <a:t>FUENTES</a:t>
            </a:r>
          </a:p>
          <a:p xmlns:a="http://schemas.openxmlformats.org/drawingml/2006/main">
            <a:r>
              <a:t>Memoria §§11-12. Apuntes NLP: temas Basics, Embeddings, Attention, Hugging Face. Apuntes de Estadística: descriptiva, probabilidad e inferencia. Citas específicas en la memoria y ANEXOS.md.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800a1b88824f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997e3c82d84183" /><Relationship Type="http://schemas.openxmlformats.org/officeDocument/2006/relationships/slideLayout" Target="/ppt/slideLayouts/slideLayout1.xml" Id="Rd94ace4f415a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4ace4f415a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57544fdd7f4b45" /><Relationship Type="http://schemas.openxmlformats.org/officeDocument/2006/relationships/notesSlide" Target="/ppt/notesSlides/notesSlide1.xml" Id="R88b53de5230b4a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bb2fa4ed3e4332" /><Relationship Type="http://schemas.openxmlformats.org/officeDocument/2006/relationships/image" Target="/ppt/media/image.png" Id="R8d0ad2999fb14dbf" /><Relationship Type="http://schemas.openxmlformats.org/officeDocument/2006/relationships/notesSlide" Target="/ppt/notesSlides/notesSlide2.xml" Id="Rdad9cb0610eb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4a575f91ed4f9a" /><Relationship Type="http://schemas.openxmlformats.org/officeDocument/2006/relationships/notesSlide" Target="/ppt/notesSlides/notesSlide3.xml" Id="R8099bac8a02c43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169016746a47a7" /><Relationship Type="http://schemas.openxmlformats.org/officeDocument/2006/relationships/notesSlide" Target="/ppt/notesSlides/notesSlide4.xml" Id="Raaa9292f4fe441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30117232144407" /><Relationship Type="http://schemas.openxmlformats.org/officeDocument/2006/relationships/chart" Target="/ppt/slides/charts/chart1.xml" Id="R19e3440fd4b043f2" /><Relationship Type="http://schemas.openxmlformats.org/officeDocument/2006/relationships/notesSlide" Target="/ppt/notesSlides/notesSlide5.xml" Id="R550a89292be14b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262a8238a4438d" /><Relationship Type="http://schemas.openxmlformats.org/officeDocument/2006/relationships/notesSlide" Target="/ppt/notesSlides/notesSlide6.xml" Id="Rdadd9aafa37144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ed8cee38eb41c0" /><Relationship Type="http://schemas.openxmlformats.org/officeDocument/2006/relationships/notesSlide" Target="/ppt/notesSlides/notesSlide7.xml" Id="R04c45637266a4d5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Métrica</c:v>
          </c:tx>
          <c:spPr>
            <a:solidFill xmlns:a="http://schemas.openxmlformats.org/drawingml/2006/main">
              <a:srgbClr val="25657A"/>
            </a:solidFill>
          </c:spPr>
          <c:dLbls>
            <c:dLbl>
              <c:idx val="0"/>
              <c:tx>
                <c:rich>
                  <a:bodyPr xmlns:a="http://schemas.openxmlformats.org/drawingml/2006/main"/>
                  <a:lstStyle xmlns:a="http://schemas.openxmlformats.org/drawingml/2006/main"/>
                  <a:p xmlns:a="http://schemas.openxmlformats.org/drawingml/2006/main">
                    <a:r>
                      <a:rPr sz="1725">
                        <a:latin typeface="Arial"/>
                        <a:ea typeface="Arial"/>
                        <a:cs typeface="Arial"/>
                      </a:rPr>
                      <a:t>9/18</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a:latin typeface="Arial"/>
                        <a:ea typeface="Arial"/>
                        <a:cs typeface="Arial"/>
                      </a:rPr>
                      <a:t>3/18</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a:latin typeface="Arial"/>
                        <a:ea typeface="Arial"/>
                        <a:cs typeface="Arial"/>
                      </a:rPr>
                      <a:t>3/12</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s>
          <c:cat>
            <c:strRef>
              <c:f>'Chart Data'!$A$2:$A$4</c:f>
              <c:strCache>
                <c:ptCount val="3"/>
                <c:pt idx="0">
                  <c:v>ΔP (n=18)</c:v>
                </c:pt>
                <c:pt idx="1">
                  <c:v>ΔE (n=18)</c:v>
                </c:pt>
                <c:pt idx="2">
                  <c:v>GxA (n=12)</c:v>
                </c:pt>
              </c:strCache>
            </c:strRef>
          </c:cat>
          <c:val>
            <c:numRef>
              <c:f>'Chart Data'!$B$2:$B$4</c:f>
              <c:numCache>
                <c:formatCode>0%</c:formatCode>
                <c:ptCount val="3"/>
                <c:pt idx="0">
                  <c:v>0.5</c:v>
                </c:pt>
                <c:pt idx="1">
                  <c:v>0.166666666667</c:v>
                </c:pt>
                <c:pt idx="2">
                  <c:v>0.25</c:v>
                </c:pt>
              </c:numCache>
            </c:numRef>
          </c:val>
        </c:ser>
        <c:ser>
          <c:idx val="1"/>
          <c:order val="1"/>
          <c:tx>
            <c:v>Entropía</c:v>
          </c:tx>
          <c:spPr>
            <a:solidFill xmlns:a="http://schemas.openxmlformats.org/drawingml/2006/main">
              <a:srgbClr val="C58331"/>
            </a:solidFill>
          </c:spPr>
          <c:dLbls>
            <c:dLbl>
              <c:idx val="0"/>
              <c:tx>
                <c:rich>
                  <a:bodyPr xmlns:a="http://schemas.openxmlformats.org/drawingml/2006/main"/>
                  <a:lstStyle xmlns:a="http://schemas.openxmlformats.org/drawingml/2006/main"/>
                  <a:p xmlns:a="http://schemas.openxmlformats.org/drawingml/2006/main">
                    <a:r>
                      <a:rPr sz="1725">
                        <a:latin typeface="Arial"/>
                        <a:ea typeface="Arial"/>
                        <a:cs typeface="Arial"/>
                      </a:rPr>
                      <a:t>5/18</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a:latin typeface="Arial"/>
                        <a:ea typeface="Arial"/>
                        <a:cs typeface="Arial"/>
                      </a:rPr>
                      <a:t>6/18</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a:latin typeface="Arial"/>
                        <a:ea typeface="Arial"/>
                        <a:cs typeface="Arial"/>
                      </a:rPr>
                      <a:t>2/12</a:t>
                    </a:r>
                  </a:p>
                </c:rich>
              </c:tx>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0"/>
              <c:showCatName val="0"/>
              <c:showSerName val="0"/>
              <c:showPercent val="0"/>
              <c:showBubbleSize val="0"/>
            </c:dLbl>
          </c:dLbls>
          <c:cat>
            <c:strRef>
              <c:f>'Chart Data'!$C$2:$C$4</c:f>
              <c:strCache>
                <c:ptCount val="3"/>
                <c:pt idx="0">
                  <c:v>ΔP (n=18)</c:v>
                </c:pt>
                <c:pt idx="1">
                  <c:v>ΔE (n=18)</c:v>
                </c:pt>
                <c:pt idx="2">
                  <c:v>GxA (n=12)</c:v>
                </c:pt>
              </c:strCache>
            </c:strRef>
          </c:cat>
          <c:val>
            <c:numRef>
              <c:f>'Chart Data'!$D$2:$D$4</c:f>
              <c:numCache>
                <c:formatCode>0%</c:formatCode>
                <c:ptCount val="3"/>
                <c:pt idx="0">
                  <c:v>0.277777777778</c:v>
                </c:pt>
                <c:pt idx="1">
                  <c:v>0.333333333333</c:v>
                </c:pt>
                <c:pt idx="2">
                  <c:v>0.166666666667</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E3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9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80BA30-1F0F-42BC-8386-62F6F6AA7203}"/>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BAF092FE-6575-4462-9BD5-D7BA328148ED}"/>
              </a:ext>
            </a:extLst>
          </p:cNvPr>
          <p:cNvSpPr>
            <a:spLocks xmlns:a="http://schemas.openxmlformats.org/drawingml/2006/main" noGrp="1"/>
          </p:cNvSpPr>
          <p:nvPr/>
        </p:nvSpPr>
        <p:spPr>
          <a:xfrm xmlns:a="http://schemas.openxmlformats.org/drawingml/2006/main">
            <a:off x="685800" y="114300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AImotional Field Theory</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AFT8-15</a:t>
            </a:r>
          </a:p>
        </p:txBody>
      </p:sp>
      <p:sp>
        <p:nvSpPr>
          <p:cNvPr id="3" name="">
            <a:extLst xmlns:a="http://schemas.openxmlformats.org/drawingml/2006/main">
              <a:ext uri="{FF2B5EF4-FFF2-40B4-BE49-F238E27FC236}">
                <a16:creationId xmlns:a16="http://schemas.microsoft.com/office/drawing/2014/main" id="{9C058E69-7D06-4392-9AA2-FBF163821720}"/>
              </a:ext>
            </a:extLst>
          </p:cNvPr>
          <p:cNvSpPr>
            <a:spLocks xmlns:a="http://schemas.openxmlformats.org/drawingml/2006/main" noGrp="1"/>
          </p:cNvSpPr>
          <p:nvPr/>
        </p:nvSpPr>
        <p:spPr>
          <a:xfrm xmlns:a="http://schemas.openxmlformats.org/drawingml/2006/main">
            <a:off x="723900" y="31623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CADDE4"/>
                </a:solidFill>
                <a:latin typeface="Arial"/>
                <a:ea typeface="Arial"/>
                <a:cs typeface="Arial"/>
              </a:defRPr>
            </a:pPr>
            <a:r>
              <a:rPr sz="2850" b="0">
                <a:solidFill>
                  <a:srgbClr val="CADDE4"/>
                </a:solidFill>
                <a:latin typeface="Arial"/>
                <a:ea typeface="Arial"/>
                <a:cs typeface="Arial"/>
              </a:rPr>
              <a:t>Evaluación empírica en Mistral</a:t>
            </a:r>
          </a:p>
        </p:txBody>
      </p:sp>
      <p:sp>
        <p:nvSpPr>
          <p:cNvPr id="4" name="">
            <a:extLst xmlns:a="http://schemas.openxmlformats.org/drawingml/2006/main">
              <a:ext uri="{FF2B5EF4-FFF2-40B4-BE49-F238E27FC236}">
                <a16:creationId xmlns:a16="http://schemas.microsoft.com/office/drawing/2014/main" id="{15B6648D-3408-487F-AA07-6590EA73FBA6}"/>
              </a:ext>
            </a:extLst>
          </p:cNvPr>
          <p:cNvSpPr>
            <a:spLocks xmlns:a="http://schemas.openxmlformats.org/drawingml/2006/main" noGrp="1"/>
          </p:cNvSpPr>
          <p:nvPr/>
        </p:nvSpPr>
        <p:spPr>
          <a:xfrm xmlns:a="http://schemas.openxmlformats.org/drawingml/2006/main">
            <a:off x="723900" y="39433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Implementación y estudio piloto</a:t>
            </a:r>
          </a:p>
        </p:txBody>
      </p:sp>
      <p:sp>
        <p:nvSpPr>
          <p:cNvPr id="5" name="">
            <a:extLst xmlns:a="http://schemas.openxmlformats.org/drawingml/2006/main">
              <a:ext uri="{FF2B5EF4-FFF2-40B4-BE49-F238E27FC236}">
                <a16:creationId xmlns:a16="http://schemas.microsoft.com/office/drawing/2014/main" id="{C7887E8B-BB97-4626-A3AC-C457268ABDC6}"/>
              </a:ext>
            </a:extLst>
          </p:cNvPr>
          <p:cNvSpPr>
            <a:spLocks xmlns:a="http://schemas.openxmlformats.org/drawingml/2006/main" noGrp="1"/>
          </p:cNvSpPr>
          <p:nvPr/>
        </p:nvSpPr>
        <p:spPr>
          <a:xfrm xmlns:a="http://schemas.openxmlformats.org/drawingml/2006/main">
            <a:off x="723900" y="53816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Francisco Jose Martinez Fernandez</a:t>
            </a:r>
          </a:p>
        </p:txBody>
      </p:sp>
      <p:sp>
        <p:nvSpPr>
          <p:cNvPr id="6" name="">
            <a:extLst xmlns:a="http://schemas.openxmlformats.org/drawingml/2006/main">
              <a:ext uri="{FF2B5EF4-FFF2-40B4-BE49-F238E27FC236}">
                <a16:creationId xmlns:a16="http://schemas.microsoft.com/office/drawing/2014/main" id="{2EC3891A-FD76-4822-BCC6-5723661D9C53}"/>
              </a:ext>
            </a:extLst>
          </p:cNvPr>
          <p:cNvSpPr>
            <a:spLocks xmlns:a="http://schemas.openxmlformats.org/drawingml/2006/main" noGrp="1"/>
          </p:cNvSpPr>
          <p:nvPr/>
        </p:nvSpPr>
        <p:spPr>
          <a:xfrm xmlns:a="http://schemas.openxmlformats.org/drawingml/2006/main">
            <a:off x="723900" y="5857875"/>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ADDE4"/>
                </a:solidFill>
                <a:latin typeface="Arial"/>
                <a:ea typeface="Arial"/>
                <a:cs typeface="Arial"/>
              </a:defRPr>
            </a:pPr>
            <a:r>
              <a:rPr sz="1575" b="0">
                <a:solidFill>
                  <a:srgbClr val="CADDE4"/>
                </a:solidFill>
                <a:latin typeface="Arial"/>
                <a:ea typeface="Arial"/>
                <a:cs typeface="Arial"/>
              </a:rPr>
              <a:t>Trabajo Fin de Máster</a:t>
            </a:r>
          </a:p>
        </p:txBody>
      </p:sp>
    </p:spTree>
    <p:extLst>
      <p:ext uri="{BB962C8B-B14F-4D97-AF65-F5344CB8AC3E}">
        <p14:creationId xmlns:p14="http://schemas.microsoft.com/office/powerpoint/2010/main" val="18344399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407723-B145-4D4B-9545-D76F41E0CEF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947"/>
                </a:solidFill>
                <a:latin typeface="Arial"/>
                <a:ea typeface="Arial"/>
                <a:cs typeface="Arial"/>
              </a:defRPr>
            </a:pPr>
            <a:r>
              <a:rPr sz="3450" b="1">
                <a:solidFill>
                  <a:srgbClr val="183947"/>
                </a:solidFill>
                <a:latin typeface="Arial"/>
                <a:ea typeface="Arial"/>
                <a:cs typeface="Arial"/>
              </a:rPr>
              <a:t>Tres señales durante la lectura</a:t>
            </a:r>
          </a:p>
        </p:txBody>
      </p:sp>
      <p:sp>
        <p:nvSpPr>
          <p:cNvPr id="2" name="">
            <a:extLst xmlns:a="http://schemas.openxmlformats.org/drawingml/2006/main">
              <a:ext uri="{FF2B5EF4-FFF2-40B4-BE49-F238E27FC236}">
                <a16:creationId xmlns:a16="http://schemas.microsoft.com/office/drawing/2014/main" id="{E4F35AE9-EC4D-41BD-960C-4C7B766FCF9C}"/>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36C4A87-5DEF-4A62-BCCC-AC13D8D5CA95}"/>
              </a:ext>
            </a:extLst>
          </p:cNvPr>
          <p:cNvSpPr>
            <a:spLocks xmlns:a="http://schemas.openxmlformats.org/drawingml/2006/main" noGrp="1"/>
          </p:cNvSpPr>
          <p:nvPr/>
        </p:nvSpPr>
        <p:spPr>
          <a:xfrm xmlns:a="http://schemas.openxmlformats.org/drawingml/2006/main">
            <a:off x="685800" y="1809750"/>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657A"/>
                </a:solidFill>
                <a:latin typeface="Arial"/>
                <a:ea typeface="Arial"/>
                <a:cs typeface="Arial"/>
              </a:defRPr>
            </a:pPr>
            <a:r>
              <a:rPr sz="3300" b="1">
                <a:solidFill>
                  <a:srgbClr val="25657A"/>
                </a:solidFill>
                <a:latin typeface="Arial"/>
                <a:ea typeface="Arial"/>
                <a:cs typeface="Arial"/>
              </a:rPr>
              <a:t>ΔP</a:t>
            </a:r>
          </a:p>
        </p:txBody>
      </p:sp>
      <p:sp>
        <p:nvSpPr>
          <p:cNvPr id="4" name="">
            <a:extLst xmlns:a="http://schemas.openxmlformats.org/drawingml/2006/main">
              <a:ext uri="{FF2B5EF4-FFF2-40B4-BE49-F238E27FC236}">
                <a16:creationId xmlns:a16="http://schemas.microsoft.com/office/drawing/2014/main" id="{A49B2D92-50ED-4E0A-ADAA-ECC0D0E7568A}"/>
              </a:ext>
            </a:extLst>
          </p:cNvPr>
          <p:cNvSpPr>
            <a:spLocks xmlns:a="http://schemas.openxmlformats.org/drawingml/2006/main" noGrp="1"/>
          </p:cNvSpPr>
          <p:nvPr/>
        </p:nvSpPr>
        <p:spPr>
          <a:xfrm xmlns:a="http://schemas.openxmlformats.org/drawingml/2006/main">
            <a:off x="1905000" y="1885950"/>
            <a:ext cx="442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Cambio de predicción</a:t>
            </a:r>
          </a:p>
        </p:txBody>
      </p:sp>
      <p:sp>
        <p:nvSpPr>
          <p:cNvPr id="5" name="">
            <a:extLst xmlns:a="http://schemas.openxmlformats.org/drawingml/2006/main">
              <a:ext uri="{FF2B5EF4-FFF2-40B4-BE49-F238E27FC236}">
                <a16:creationId xmlns:a16="http://schemas.microsoft.com/office/drawing/2014/main" id="{FDEAB870-B65E-4678-89D3-36B6300C699E}"/>
              </a:ext>
            </a:extLst>
          </p:cNvPr>
          <p:cNvSpPr>
            <a:spLocks xmlns:a="http://schemas.openxmlformats.org/drawingml/2006/main" noGrp="1"/>
          </p:cNvSpPr>
          <p:nvPr/>
        </p:nvSpPr>
        <p:spPr>
          <a:xfrm xmlns:a="http://schemas.openxmlformats.org/drawingml/2006/main">
            <a:off x="685800" y="3048000"/>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657A"/>
                </a:solidFill>
                <a:latin typeface="Arial"/>
                <a:ea typeface="Arial"/>
                <a:cs typeface="Arial"/>
              </a:defRPr>
            </a:pPr>
            <a:r>
              <a:rPr sz="3300" b="1">
                <a:solidFill>
                  <a:srgbClr val="25657A"/>
                </a:solidFill>
                <a:latin typeface="Arial"/>
                <a:ea typeface="Arial"/>
                <a:cs typeface="Arial"/>
              </a:rPr>
              <a:t>ΔE</a:t>
            </a:r>
          </a:p>
        </p:txBody>
      </p:sp>
      <p:sp>
        <p:nvSpPr>
          <p:cNvPr id="6" name="">
            <a:extLst xmlns:a="http://schemas.openxmlformats.org/drawingml/2006/main">
              <a:ext uri="{FF2B5EF4-FFF2-40B4-BE49-F238E27FC236}">
                <a16:creationId xmlns:a16="http://schemas.microsoft.com/office/drawing/2014/main" id="{09995014-6C92-4180-9AEE-955DE5E50CEB}"/>
              </a:ext>
            </a:extLst>
          </p:cNvPr>
          <p:cNvSpPr>
            <a:spLocks xmlns:a="http://schemas.openxmlformats.org/drawingml/2006/main" noGrp="1"/>
          </p:cNvSpPr>
          <p:nvPr/>
        </p:nvSpPr>
        <p:spPr>
          <a:xfrm xmlns:a="http://schemas.openxmlformats.org/drawingml/2006/main">
            <a:off x="1905000" y="3124200"/>
            <a:ext cx="442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Cambio de incertidumbre</a:t>
            </a:r>
          </a:p>
        </p:txBody>
      </p:sp>
      <p:sp>
        <p:nvSpPr>
          <p:cNvPr id="7" name="">
            <a:extLst xmlns:a="http://schemas.openxmlformats.org/drawingml/2006/main">
              <a:ext uri="{FF2B5EF4-FFF2-40B4-BE49-F238E27FC236}">
                <a16:creationId xmlns:a16="http://schemas.microsoft.com/office/drawing/2014/main" id="{9B2E6B3E-1AB8-453C-9D42-A7CA95786643}"/>
              </a:ext>
            </a:extLst>
          </p:cNvPr>
          <p:cNvSpPr>
            <a:spLocks xmlns:a="http://schemas.openxmlformats.org/drawingml/2006/main" noGrp="1"/>
          </p:cNvSpPr>
          <p:nvPr/>
        </p:nvSpPr>
        <p:spPr>
          <a:xfrm xmlns:a="http://schemas.openxmlformats.org/drawingml/2006/main">
            <a:off x="685800" y="4286250"/>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657A"/>
                </a:solidFill>
                <a:latin typeface="Arial"/>
                <a:ea typeface="Arial"/>
                <a:cs typeface="Arial"/>
              </a:defRPr>
            </a:pPr>
            <a:r>
              <a:rPr sz="3300" b="1">
                <a:solidFill>
                  <a:srgbClr val="25657A"/>
                </a:solidFill>
                <a:latin typeface="Arial"/>
                <a:ea typeface="Arial"/>
                <a:cs typeface="Arial"/>
              </a:rPr>
              <a:t>GxA</a:t>
            </a:r>
          </a:p>
        </p:txBody>
      </p:sp>
      <p:sp>
        <p:nvSpPr>
          <p:cNvPr id="8" name="">
            <a:extLst xmlns:a="http://schemas.openxmlformats.org/drawingml/2006/main">
              <a:ext uri="{FF2B5EF4-FFF2-40B4-BE49-F238E27FC236}">
                <a16:creationId xmlns:a16="http://schemas.microsoft.com/office/drawing/2014/main" id="{0894A610-03C0-40A5-9C1E-15B5F26C762C}"/>
              </a:ext>
            </a:extLst>
          </p:cNvPr>
          <p:cNvSpPr>
            <a:spLocks xmlns:a="http://schemas.openxmlformats.org/drawingml/2006/main" noGrp="1"/>
          </p:cNvSpPr>
          <p:nvPr/>
        </p:nvSpPr>
        <p:spPr>
          <a:xfrm xmlns:a="http://schemas.openxmlformats.org/drawingml/2006/main">
            <a:off x="1905000" y="4362450"/>
            <a:ext cx="4429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Redistribución de saliencia</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d0ad2999fb14dbf"/>
          <a:stretch xmlns:a="http://schemas.openxmlformats.org/drawingml/2006/main"/>
        </p:blipFill>
        <p:spPr>
          <a:xfrm xmlns:a="http://schemas.openxmlformats.org/drawingml/2006/main">
            <a:off x="6896100" y="1714500"/>
            <a:ext cx="4114800" cy="3429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C412FF6-567B-40EC-9878-9E4E15F181A3}"/>
              </a:ext>
            </a:extLst>
          </p:cNvPr>
          <p:cNvSpPr>
            <a:spLocks xmlns:a="http://schemas.openxmlformats.org/drawingml/2006/main" noGrp="1"/>
          </p:cNvSpPr>
          <p:nvPr/>
        </p:nvSpPr>
        <p:spPr>
          <a:xfrm xmlns:a="http://schemas.openxmlformats.org/drawingml/2006/main">
            <a:off x="6915150" y="52387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572"/>
                </a:solidFill>
                <a:latin typeface="Arial"/>
                <a:ea typeface="Arial"/>
                <a:cs typeface="Arial"/>
              </a:defRPr>
            </a:pPr>
            <a:r>
              <a:rPr sz="1575" b="0">
                <a:solidFill>
                  <a:srgbClr val="526572"/>
                </a:solidFill>
                <a:latin typeface="Arial"/>
                <a:ea typeface="Arial"/>
                <a:cs typeface="Arial"/>
              </a:rPr>
              <a:t>Ejemplo de mapa GxA: A011</a:t>
            </a:r>
          </a:p>
        </p:txBody>
      </p:sp>
      <p:sp>
        <p:nvSpPr>
          <p:cNvPr id="11" name="">
            <a:extLst xmlns:a="http://schemas.openxmlformats.org/drawingml/2006/main">
              <a:ext uri="{FF2B5EF4-FFF2-40B4-BE49-F238E27FC236}">
                <a16:creationId xmlns:a16="http://schemas.microsoft.com/office/drawing/2014/main" id="{442B177A-8BC9-40D5-B4CB-4A3BD509012D}"/>
              </a:ext>
            </a:extLst>
          </p:cNvPr>
          <p:cNvSpPr>
            <a:spLocks xmlns:a="http://schemas.openxmlformats.org/drawingml/2006/main" noGrp="1"/>
          </p:cNvSpPr>
          <p:nvPr/>
        </p:nvSpPr>
        <p:spPr>
          <a:xfrm xmlns:a="http://schemas.openxmlformats.org/drawingml/2006/main">
            <a:off x="685800" y="58102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947"/>
                </a:solidFill>
                <a:latin typeface="Arial"/>
                <a:ea typeface="Arial"/>
                <a:cs typeface="Arial"/>
              </a:defRPr>
            </a:pPr>
            <a:r>
              <a:rPr sz="1950" b="0">
                <a:solidFill>
                  <a:srgbClr val="183947"/>
                </a:solidFill>
                <a:latin typeface="Arial"/>
                <a:ea typeface="Arial"/>
                <a:cs typeface="Arial"/>
              </a:rPr>
              <a:t>Texto observado, sin generar una continuación</a:t>
            </a:r>
          </a:p>
        </p:txBody>
      </p:sp>
    </p:spTree>
    <p:extLst>
      <p:ext uri="{BB962C8B-B14F-4D97-AF65-F5344CB8AC3E}">
        <p14:creationId xmlns:p14="http://schemas.microsoft.com/office/powerpoint/2010/main" val="163120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C4F338-02A0-48C8-8D87-D262639C8D2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947"/>
                </a:solidFill>
                <a:latin typeface="Arial"/>
                <a:ea typeface="Arial"/>
                <a:cs typeface="Arial"/>
              </a:defRPr>
            </a:pPr>
            <a:r>
              <a:rPr sz="3450" b="1">
                <a:solidFill>
                  <a:srgbClr val="183947"/>
                </a:solidFill>
                <a:latin typeface="Arial"/>
                <a:ea typeface="Arial"/>
                <a:cs typeface="Arial"/>
              </a:rPr>
              <a:t>30 textos y 60 controles derivados</a:t>
            </a:r>
          </a:p>
        </p:txBody>
      </p:sp>
      <p:sp>
        <p:nvSpPr>
          <p:cNvPr id="2" name="">
            <a:extLst xmlns:a="http://schemas.openxmlformats.org/drawingml/2006/main">
              <a:ext uri="{FF2B5EF4-FFF2-40B4-BE49-F238E27FC236}">
                <a16:creationId xmlns:a16="http://schemas.microsoft.com/office/drawing/2014/main" id="{BA14EE34-789E-4A1A-BE64-AC647ECE202F}"/>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3466826-5773-407B-83D4-39535D43413B}"/>
              </a:ext>
            </a:extLst>
          </p:cNvPr>
          <p:cNvSpPr>
            <a:spLocks xmlns:a="http://schemas.openxmlformats.org/drawingml/2006/main" noGrp="1"/>
          </p:cNvSpPr>
          <p:nvPr/>
        </p:nvSpPr>
        <p:spPr>
          <a:xfrm xmlns:a="http://schemas.openxmlformats.org/drawingml/2006/main">
            <a:off x="685800" y="147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Cada texto tiene seis versos</a:t>
            </a:r>
          </a:p>
        </p:txBody>
      </p:sp>
      <p:graphicFrame>
        <p:nvGraphicFramePr>
          <p:cNvPr id="10" name=""/>
          <p:cNvGraphicFramePr/>
          <p:nvPr/>
        </p:nvGraphicFramePr>
        <p:xfrm>
          <a:off xmlns:a="http://schemas.openxmlformats.org/drawingml/2006/main" x="685800" y="2190750"/>
          <a:ext xmlns:a="http://schemas.openxmlformats.org/drawingml/2006/main" cx="10820400" cy="2714625"/>
        </p:xfrm>
        <a:graphic xmlns:a="http://schemas.openxmlformats.org/drawingml/2006/main">
          <a:graphicData uri="http://schemas.openxmlformats.org/drawingml/2006/table">
            <a:tbl>
              <a:tblPr/>
              <a:tblGrid>
                <a:gridCol w="2857500"/>
                <a:gridCol w="2952750"/>
                <a:gridCol w="5010150"/>
              </a:tblGrid>
              <a:tr h="678656">
                <a:tc>
                  <a:txBody>
                    <a:bodyPr/>
                    <a:lstStyle/>
                    <a:p>
                      <a:r>
                        <a:rPr sz="1800" b="1">
                          <a:solidFill>
                            <a:srgbClr val="183947"/>
                          </a:solidFill>
                          <a:latin typeface="Arial"/>
                          <a:ea typeface="Arial"/>
                          <a:cs typeface="Arial"/>
                        </a:rPr>
                        <a:t>Conjunto</a:t>
                      </a:r>
                    </a:p>
                  </a:txBody>
                  <a:tcPr marL="133350" marR="133350" marT="152400" marB="152400">
                    <a:solidFill>
                      <a:srgbClr val="EFF4F6"/>
                    </a:solidFill>
                  </a:tcPr>
                </a:tc>
                <a:tc>
                  <a:txBody>
                    <a:bodyPr/>
                    <a:lstStyle/>
                    <a:p>
                      <a:r>
                        <a:rPr sz="1800" b="1">
                          <a:solidFill>
                            <a:srgbClr val="183947"/>
                          </a:solidFill>
                          <a:latin typeface="Arial"/>
                          <a:ea typeface="Arial"/>
                          <a:cs typeface="Arial"/>
                        </a:rPr>
                        <a:t>Orden ilustrativo</a:t>
                      </a:r>
                    </a:p>
                  </a:txBody>
                  <a:tcPr marL="133350" marR="133350" marT="152400" marB="152400">
                    <a:solidFill>
                      <a:srgbClr val="EFF4F6"/>
                    </a:solidFill>
                  </a:tcPr>
                </a:tc>
                <a:tc>
                  <a:txBody>
                    <a:bodyPr/>
                    <a:lstStyle/>
                    <a:p>
                      <a:r>
                        <a:rPr sz="1800" b="1">
                          <a:solidFill>
                            <a:srgbClr val="183947"/>
                          </a:solidFill>
                          <a:latin typeface="Arial"/>
                          <a:ea typeface="Arial"/>
                          <a:cs typeface="Arial"/>
                        </a:rPr>
                        <a:t>Qué permite explorar</a:t>
                      </a:r>
                    </a:p>
                  </a:txBody>
                  <a:tcPr marL="133350" marR="133350" marT="152400" marB="152400">
                    <a:solidFill>
                      <a:srgbClr val="EFF4F6"/>
                    </a:solidFill>
                  </a:tcPr>
                </a:tc>
              </a:tr>
              <a:tr h="678656">
                <a:tc>
                  <a:txBody>
                    <a:bodyPr/>
                    <a:lstStyle/>
                    <a:p>
                      <a:r>
                        <a:rPr sz="1875">
                          <a:solidFill>
                            <a:srgbClr val="183947"/>
                          </a:solidFill>
                          <a:latin typeface="Arial"/>
                          <a:ea typeface="Arial"/>
                          <a:cs typeface="Arial"/>
                        </a:rPr>
                        <a:t>Original</a:t>
                      </a:r>
                    </a:p>
                  </a:txBody>
                  <a:tcPr marL="133350" marR="133350" marT="152400" marB="152400">
                    <a:solidFill>
                      <a:srgbClr val="FFFFFF"/>
                    </a:solidFill>
                  </a:tcPr>
                </a:tc>
                <a:tc>
                  <a:txBody>
                    <a:bodyPr/>
                    <a:lstStyle/>
                    <a:p>
                      <a:r>
                        <a:rPr sz="1875">
                          <a:solidFill>
                            <a:srgbClr val="183947"/>
                          </a:solidFill>
                          <a:latin typeface="Arial"/>
                          <a:ea typeface="Arial"/>
                          <a:cs typeface="Arial"/>
                        </a:rPr>
                        <a:t>1  2  3  4  5  6</a:t>
                      </a:r>
                    </a:p>
                  </a:txBody>
                  <a:tcPr marL="133350" marR="133350" marT="152400" marB="152400">
                    <a:solidFill>
                      <a:srgbClr val="FFFFFF"/>
                    </a:solidFill>
                  </a:tcPr>
                </a:tc>
                <a:tc>
                  <a:txBody>
                    <a:bodyPr/>
                    <a:lstStyle/>
                    <a:p>
                      <a:r>
                        <a:rPr sz="1875">
                          <a:solidFill>
                            <a:srgbClr val="183947"/>
                          </a:solidFill>
                          <a:latin typeface="Arial"/>
                          <a:ea typeface="Arial"/>
                          <a:cs typeface="Arial"/>
                        </a:rPr>
                        <a:t>Comportamiento del texto</a:t>
                      </a:r>
                    </a:p>
                  </a:txBody>
                  <a:tcPr marL="133350" marR="133350" marT="152400" marB="152400">
                    <a:solidFill>
                      <a:srgbClr val="FFFFFF"/>
                    </a:solidFill>
                  </a:tcPr>
                </a:tc>
              </a:tr>
              <a:tr h="678656">
                <a:tc>
                  <a:txBody>
                    <a:bodyPr/>
                    <a:lstStyle/>
                    <a:p>
                      <a:r>
                        <a:rPr sz="1875">
                          <a:solidFill>
                            <a:srgbClr val="183947"/>
                          </a:solidFill>
                          <a:latin typeface="Arial"/>
                          <a:ea typeface="Arial"/>
                          <a:cs typeface="Arial"/>
                        </a:rPr>
                        <a:t>D1 · mover objetivo</a:t>
                      </a:r>
                    </a:p>
                  </a:txBody>
                  <a:tcPr marL="133350" marR="133350" marT="152400" marB="152400">
                    <a:solidFill>
                      <a:srgbClr val="FFFFFF"/>
                    </a:solidFill>
                  </a:tcPr>
                </a:tc>
                <a:tc>
                  <a:txBody>
                    <a:bodyPr/>
                    <a:lstStyle/>
                    <a:p>
                      <a:r>
                        <a:rPr sz="1875">
                          <a:solidFill>
                            <a:srgbClr val="183947"/>
                          </a:solidFill>
                          <a:latin typeface="Arial"/>
                          <a:ea typeface="Arial"/>
                          <a:cs typeface="Arial"/>
                        </a:rPr>
                        <a:t>1  2  6  4  5  3</a:t>
                      </a:r>
                    </a:p>
                  </a:txBody>
                  <a:tcPr marL="133350" marR="133350" marT="152400" marB="152400">
                    <a:solidFill>
                      <a:srgbClr val="FFFFFF"/>
                    </a:solidFill>
                  </a:tcPr>
                </a:tc>
                <a:tc>
                  <a:txBody>
                    <a:bodyPr/>
                    <a:lstStyle/>
                    <a:p>
                      <a:r>
                        <a:rPr sz="1875">
                          <a:solidFill>
                            <a:srgbClr val="183947"/>
                          </a:solidFill>
                          <a:latin typeface="Arial"/>
                          <a:ea typeface="Arial"/>
                          <a:cs typeface="Arial"/>
                        </a:rPr>
                        <a:t>Seguimiento del verso movido</a:t>
                      </a:r>
                    </a:p>
                  </a:txBody>
                  <a:tcPr marL="133350" marR="133350" marT="152400" marB="152400">
                    <a:solidFill>
                      <a:srgbClr val="FFFFFF"/>
                    </a:solidFill>
                  </a:tcPr>
                </a:tc>
              </a:tr>
              <a:tr h="678656">
                <a:tc>
                  <a:txBody>
                    <a:bodyPr/>
                    <a:lstStyle/>
                    <a:p>
                      <a:r>
                        <a:rPr sz="1875">
                          <a:solidFill>
                            <a:srgbClr val="183947"/>
                          </a:solidFill>
                          <a:latin typeface="Arial"/>
                          <a:ea typeface="Arial"/>
                          <a:cs typeface="Arial"/>
                        </a:rPr>
                        <a:t>D2 · reordenar</a:t>
                      </a:r>
                    </a:p>
                  </a:txBody>
                  <a:tcPr marL="133350" marR="133350" marT="152400" marB="152400">
                    <a:solidFill>
                      <a:srgbClr val="FFFFFF"/>
                    </a:solidFill>
                  </a:tcPr>
                </a:tc>
                <a:tc>
                  <a:txBody>
                    <a:bodyPr/>
                    <a:lstStyle/>
                    <a:p>
                      <a:r>
                        <a:rPr sz="1875">
                          <a:solidFill>
                            <a:srgbClr val="183947"/>
                          </a:solidFill>
                          <a:latin typeface="Arial"/>
                          <a:ea typeface="Arial"/>
                          <a:cs typeface="Arial"/>
                        </a:rPr>
                        <a:t>2  3  4  5  6  1</a:t>
                      </a:r>
                    </a:p>
                  </a:txBody>
                  <a:tcPr marL="133350" marR="133350" marT="152400" marB="152400">
                    <a:solidFill>
                      <a:srgbClr val="FFFFFF"/>
                    </a:solidFill>
                  </a:tcPr>
                </a:tc>
                <a:tc>
                  <a:txBody>
                    <a:bodyPr/>
                    <a:lstStyle/>
                    <a:p>
                      <a:r>
                        <a:rPr sz="1875">
                          <a:solidFill>
                            <a:srgbClr val="183947"/>
                          </a:solidFill>
                          <a:latin typeface="Arial"/>
                          <a:ea typeface="Arial"/>
                          <a:cs typeface="Arial"/>
                        </a:rPr>
                        <a:t>Sensibilidad al orden</a:t>
                      </a:r>
                    </a:p>
                  </a:txBody>
                  <a:tcPr marL="133350" marR="133350" marT="152400" marB="1524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BA327F-537E-49F5-88CC-101CC48E7F61}"/>
              </a:ext>
            </a:extLst>
          </p:cNvPr>
          <p:cNvSpPr>
            <a:spLocks xmlns:a="http://schemas.openxmlformats.org/drawingml/2006/main" noGrp="1"/>
          </p:cNvSpPr>
          <p:nvPr/>
        </p:nvSpPr>
        <p:spPr>
          <a:xfrm xmlns:a="http://schemas.openxmlformats.org/drawingml/2006/main">
            <a:off x="685800" y="52387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5657A"/>
                </a:solidFill>
                <a:latin typeface="Arial"/>
                <a:ea typeface="Arial"/>
                <a:cs typeface="Arial"/>
              </a:defRPr>
            </a:pPr>
            <a:r>
              <a:rPr sz="2100" b="1">
                <a:solidFill>
                  <a:srgbClr val="25657A"/>
                </a:solidFill>
                <a:latin typeface="Arial"/>
                <a:ea typeface="Arial"/>
                <a:cs typeface="Arial"/>
              </a:rPr>
              <a:t>28 de 30 objetivos originales están en los versos 5 o 6</a:t>
            </a:r>
          </a:p>
        </p:txBody>
      </p:sp>
      <p:sp>
        <p:nvSpPr>
          <p:cNvPr id="6" name="">
            <a:extLst xmlns:a="http://schemas.openxmlformats.org/drawingml/2006/main">
              <a:ext uri="{FF2B5EF4-FFF2-40B4-BE49-F238E27FC236}">
                <a16:creationId xmlns:a16="http://schemas.microsoft.com/office/drawing/2014/main" id="{3B4192AF-577D-4E6E-94AB-9B5720725199}"/>
              </a:ext>
            </a:extLst>
          </p:cNvPr>
          <p:cNvSpPr>
            <a:spLocks xmlns:a="http://schemas.openxmlformats.org/drawingml/2006/main" noGrp="1"/>
          </p:cNvSpPr>
          <p:nvPr/>
        </p:nvSpPr>
        <p:spPr>
          <a:xfrm xmlns:a="http://schemas.openxmlformats.org/drawingml/2006/main">
            <a:off x="685800" y="58197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2"/>
                </a:solidFill>
                <a:latin typeface="Arial"/>
                <a:ea typeface="Arial"/>
                <a:cs typeface="Arial"/>
              </a:defRPr>
            </a:pPr>
            <a:r>
              <a:rPr sz="1650" b="0">
                <a:solidFill>
                  <a:srgbClr val="526572"/>
                </a:solidFill>
                <a:latin typeface="Arial"/>
                <a:ea typeface="Arial"/>
                <a:cs typeface="Arial"/>
              </a:rPr>
              <a:t>Esquema del diseño. Los controles proceden de los mismos 30 textos.</a:t>
            </a:r>
          </a:p>
        </p:txBody>
      </p:sp>
    </p:spTree>
    <p:extLst>
      <p:ext uri="{BB962C8B-B14F-4D97-AF65-F5344CB8AC3E}">
        <p14:creationId xmlns:p14="http://schemas.microsoft.com/office/powerpoint/2010/main" val="1591872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8C4230-0D86-4C64-8361-A7F81C679ACA}"/>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947"/>
                </a:solidFill>
                <a:latin typeface="Arial"/>
                <a:ea typeface="Arial"/>
                <a:cs typeface="Arial"/>
              </a:defRPr>
            </a:pPr>
            <a:r>
              <a:rPr sz="3450" b="1">
                <a:solidFill>
                  <a:srgbClr val="183947"/>
                </a:solidFill>
                <a:latin typeface="Arial"/>
                <a:ea typeface="Arial"/>
                <a:cs typeface="Arial"/>
              </a:rPr>
              <a:t>Extracción en GPU y análisis local</a:t>
            </a:r>
          </a:p>
        </p:txBody>
      </p:sp>
      <p:sp>
        <p:nvSpPr>
          <p:cNvPr id="2" name="">
            <a:extLst xmlns:a="http://schemas.openxmlformats.org/drawingml/2006/main">
              <a:ext uri="{FF2B5EF4-FFF2-40B4-BE49-F238E27FC236}">
                <a16:creationId xmlns:a16="http://schemas.microsoft.com/office/drawing/2014/main" id="{46D25772-E39D-42A7-8186-B7F7D4C0C8CF}"/>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B5FE777-3B18-495E-8D1A-BBD2FB4A47F1}"/>
              </a:ext>
            </a:extLst>
          </p:cNvPr>
          <p:cNvSpPr>
            <a:spLocks xmlns:a="http://schemas.openxmlformats.org/drawingml/2006/main" noGrp="1"/>
          </p:cNvSpPr>
          <p:nvPr/>
        </p:nvSpPr>
        <p:spPr>
          <a:xfrm xmlns:a="http://schemas.openxmlformats.org/drawingml/2006/main">
            <a:off x="685800" y="17145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657A"/>
                </a:solidFill>
                <a:latin typeface="Arial"/>
                <a:ea typeface="Arial"/>
                <a:cs typeface="Arial"/>
              </a:defRPr>
            </a:pPr>
            <a:r>
              <a:rPr sz="1950" b="1">
                <a:solidFill>
                  <a:srgbClr val="25657A"/>
                </a:solidFill>
                <a:latin typeface="Arial"/>
                <a:ea typeface="Arial"/>
                <a:cs typeface="Arial"/>
              </a:rPr>
              <a:t>EXTRACCIÓN EN GPU</a:t>
            </a:r>
          </a:p>
        </p:txBody>
      </p:sp>
      <p:sp>
        <p:nvSpPr>
          <p:cNvPr id="4" name="">
            <a:extLst xmlns:a="http://schemas.openxmlformats.org/drawingml/2006/main">
              <a:ext uri="{FF2B5EF4-FFF2-40B4-BE49-F238E27FC236}">
                <a16:creationId xmlns:a16="http://schemas.microsoft.com/office/drawing/2014/main" id="{3E8289AF-A448-493C-AD28-B72A02B6F322}"/>
              </a:ext>
            </a:extLst>
          </p:cNvPr>
          <p:cNvSpPr>
            <a:spLocks xmlns:a="http://schemas.openxmlformats.org/drawingml/2006/main" noGrp="1"/>
          </p:cNvSpPr>
          <p:nvPr/>
        </p:nvSpPr>
        <p:spPr>
          <a:xfrm xmlns:a="http://schemas.openxmlformats.org/drawingml/2006/main">
            <a:off x="685800" y="2476500"/>
            <a:ext cx="509587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Textos sin hipótesis</a:t>
            </a:r>
          </a:p>
          <a:p xmlns:a="http://schemas.openxmlformats.org/drawingml/2006/main">
            <a:r>
              <a:t/>
            </a:r>
          </a:p>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Mistral-7B-v0.3</a:t>
            </a:r>
          </a:p>
          <a:p xmlns:a="http://schemas.openxmlformats.org/drawingml/2006/main">
            <a:r>
              <a:t/>
            </a:r>
          </a:p>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Medidas y matrices guardadas</a:t>
            </a:r>
          </a:p>
        </p:txBody>
      </p:sp>
      <p:sp>
        <p:nvSpPr>
          <p:cNvPr id="5" name="">
            <a:extLst xmlns:a="http://schemas.openxmlformats.org/drawingml/2006/main">
              <a:ext uri="{FF2B5EF4-FFF2-40B4-BE49-F238E27FC236}">
                <a16:creationId xmlns:a16="http://schemas.microsoft.com/office/drawing/2014/main" id="{B235A134-82F5-4611-934D-7436AA977051}"/>
              </a:ext>
            </a:extLst>
          </p:cNvPr>
          <p:cNvSpPr>
            <a:spLocks xmlns:a="http://schemas.openxmlformats.org/drawingml/2006/main" noGrp="1"/>
          </p:cNvSpPr>
          <p:nvPr/>
        </p:nvSpPr>
        <p:spPr>
          <a:xfrm xmlns:a="http://schemas.openxmlformats.org/drawingml/2006/main">
            <a:off x="6572250" y="1714500"/>
            <a:ext cx="4933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657A"/>
                </a:solidFill>
                <a:latin typeface="Arial"/>
                <a:ea typeface="Arial"/>
                <a:cs typeface="Arial"/>
              </a:defRPr>
            </a:pPr>
            <a:r>
              <a:rPr sz="1950" b="1">
                <a:solidFill>
                  <a:srgbClr val="25657A"/>
                </a:solidFill>
                <a:latin typeface="Arial"/>
                <a:ea typeface="Arial"/>
                <a:cs typeface="Arial"/>
              </a:rPr>
              <a:t>ANÁLISIS LOCAL</a:t>
            </a:r>
          </a:p>
        </p:txBody>
      </p:sp>
      <p:sp>
        <p:nvSpPr>
          <p:cNvPr id="6" name="">
            <a:extLst xmlns:a="http://schemas.openxmlformats.org/drawingml/2006/main">
              <a:ext uri="{FF2B5EF4-FFF2-40B4-BE49-F238E27FC236}">
                <a16:creationId xmlns:a16="http://schemas.microsoft.com/office/drawing/2014/main" id="{9C7D2AF9-1F89-47EA-8375-64611410DA15}"/>
              </a:ext>
            </a:extLst>
          </p:cNvPr>
          <p:cNvSpPr>
            <a:spLocks xmlns:a="http://schemas.openxmlformats.org/drawingml/2006/main" noGrp="1"/>
          </p:cNvSpPr>
          <p:nvPr/>
        </p:nvSpPr>
        <p:spPr>
          <a:xfrm xmlns:a="http://schemas.openxmlformats.org/drawingml/2006/main">
            <a:off x="6572250" y="2476500"/>
            <a:ext cx="49339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Unión con los objetivos</a:t>
            </a:r>
          </a:p>
          <a:p xmlns:a="http://schemas.openxmlformats.org/drawingml/2006/main">
            <a:r>
              <a:t/>
            </a:r>
          </a:p>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Comparaciones y controles</a:t>
            </a:r>
          </a:p>
          <a:p xmlns:a="http://schemas.openxmlformats.org/drawingml/2006/main">
            <a:r>
              <a:t/>
            </a:r>
          </a:p>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Tablas y figuras</a:t>
            </a:r>
          </a:p>
        </p:txBody>
      </p:sp>
      <p:sp>
        <p:nvSpPr>
          <p:cNvPr id="7" name="">
            <a:extLst xmlns:a="http://schemas.openxmlformats.org/drawingml/2006/main">
              <a:ext uri="{FF2B5EF4-FFF2-40B4-BE49-F238E27FC236}">
                <a16:creationId xmlns:a16="http://schemas.microsoft.com/office/drawing/2014/main" id="{A1CA6CCD-0ADE-4180-A6B8-54A29BDD7F89}"/>
              </a:ext>
            </a:extLst>
          </p:cNvPr>
          <p:cNvSpPr>
            <a:spLocks xmlns:a="http://schemas.openxmlformats.org/drawingml/2006/main" noGrp="1"/>
          </p:cNvSpPr>
          <p:nvPr/>
        </p:nvSpPr>
        <p:spPr>
          <a:xfrm xmlns:a="http://schemas.openxmlformats.org/drawingml/2006/main">
            <a:off x="685800" y="57150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947"/>
                </a:solidFill>
                <a:latin typeface="Arial"/>
                <a:ea typeface="Arial"/>
                <a:cs typeface="Arial"/>
              </a:defRPr>
            </a:pPr>
            <a:r>
              <a:rPr sz="2025" b="1">
                <a:solidFill>
                  <a:srgbClr val="183947"/>
                </a:solidFill>
                <a:latin typeface="Arial"/>
                <a:ea typeface="Arial"/>
                <a:cs typeface="Arial"/>
              </a:rPr>
              <a:t>Texto verificado y configuración identificada en cada ejecución</a:t>
            </a:r>
          </a:p>
        </p:txBody>
      </p:sp>
    </p:spTree>
    <p:extLst>
      <p:ext uri="{BB962C8B-B14F-4D97-AF65-F5344CB8AC3E}">
        <p14:creationId xmlns:p14="http://schemas.microsoft.com/office/powerpoint/2010/main" val="157252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84437D-A62F-4C90-A744-78039F673545}"/>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947"/>
                </a:solidFill>
                <a:latin typeface="Arial"/>
                <a:ea typeface="Arial"/>
                <a:cs typeface="Arial"/>
              </a:defRPr>
            </a:pPr>
            <a:r>
              <a:rPr sz="3450" b="1">
                <a:solidFill>
                  <a:srgbClr val="183947"/>
                </a:solidFill>
                <a:latin typeface="Arial"/>
                <a:ea typeface="Arial"/>
                <a:cs typeface="Arial"/>
              </a:rPr>
              <a:t>Resultados frente a una referencia sencilla</a:t>
            </a:r>
          </a:p>
        </p:txBody>
      </p:sp>
      <p:sp>
        <p:nvSpPr>
          <p:cNvPr id="2" name="">
            <a:extLst xmlns:a="http://schemas.openxmlformats.org/drawingml/2006/main">
              <a:ext uri="{FF2B5EF4-FFF2-40B4-BE49-F238E27FC236}">
                <a16:creationId xmlns:a16="http://schemas.microsoft.com/office/drawing/2014/main" id="{50F8C287-156E-430C-B4BD-0FC164E19AFD}"/>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05</a:t>
            </a:r>
          </a:p>
        </p:txBody>
      </p:sp>
      <p:graphicFrame>
        <p:nvGraphicFramePr>
          <p:cNvPr id="10" name="Chart"/>
          <p:cNvGraphicFramePr/>
          <p:nvPr/>
        </p:nvGraphicFramePr>
        <p:xfrm>
          <a:off xmlns:a="http://schemas.openxmlformats.org/drawingml/2006/main" x="609600" y="1571625"/>
          <a:ext xmlns:a="http://schemas.openxmlformats.org/drawingml/2006/main" cx="7429500" cy="4000500"/>
        </p:xfrm>
        <a:graphic xmlns:a="http://schemas.openxmlformats.org/drawingml/2006/main">
          <a:graphicData uri="http://schemas.openxmlformats.org/drawingml/2006/chart">
            <c:chart xmlns:r="http://schemas.openxmlformats.org/officeDocument/2006/relationships" xmlns:c="http://schemas.openxmlformats.org/drawingml/2006/chart" r:id="R19e3440fd4b043f2"/>
          </a:graphicData>
        </a:graphic>
      </p:graphicFrame>
      <p:sp>
        <p:nvSpPr>
          <p:cNvPr id="4" name="">
            <a:extLst xmlns:a="http://schemas.openxmlformats.org/drawingml/2006/main">
              <a:ext uri="{FF2B5EF4-FFF2-40B4-BE49-F238E27FC236}">
                <a16:creationId xmlns:a16="http://schemas.microsoft.com/office/drawing/2014/main" id="{927A30D9-4B2E-498F-9195-507CBE21DFE3}"/>
              </a:ext>
            </a:extLst>
          </p:cNvPr>
          <p:cNvSpPr>
            <a:spLocks xmlns:a="http://schemas.openxmlformats.org/drawingml/2006/main" noGrp="1"/>
          </p:cNvSpPr>
          <p:nvPr/>
        </p:nvSpPr>
        <p:spPr>
          <a:xfrm xmlns:a="http://schemas.openxmlformats.org/drawingml/2006/main">
            <a:off x="8620125" y="185737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25657A"/>
                </a:solidFill>
                <a:latin typeface="Arial"/>
                <a:ea typeface="Arial"/>
                <a:cs typeface="Arial"/>
              </a:defRPr>
            </a:pPr>
            <a:r>
              <a:rPr sz="5025" b="1">
                <a:solidFill>
                  <a:srgbClr val="25657A"/>
                </a:solidFill>
                <a:latin typeface="Arial"/>
                <a:ea typeface="Arial"/>
                <a:cs typeface="Arial"/>
              </a:rPr>
              <a:t>15/48</a:t>
            </a:r>
          </a:p>
        </p:txBody>
      </p:sp>
      <p:sp>
        <p:nvSpPr>
          <p:cNvPr id="5" name="">
            <a:extLst xmlns:a="http://schemas.openxmlformats.org/drawingml/2006/main">
              <a:ext uri="{FF2B5EF4-FFF2-40B4-BE49-F238E27FC236}">
                <a16:creationId xmlns:a16="http://schemas.microsoft.com/office/drawing/2014/main" id="{0213CAAD-3267-451C-A974-3EF902DC6E7E}"/>
              </a:ext>
            </a:extLst>
          </p:cNvPr>
          <p:cNvSpPr>
            <a:spLocks xmlns:a="http://schemas.openxmlformats.org/drawingml/2006/main" noGrp="1"/>
          </p:cNvSpPr>
          <p:nvPr/>
        </p:nvSpPr>
        <p:spPr>
          <a:xfrm xmlns:a="http://schemas.openxmlformats.org/drawingml/2006/main">
            <a:off x="8620125" y="291465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7"/>
                </a:solidFill>
                <a:latin typeface="Arial"/>
                <a:ea typeface="Arial"/>
                <a:cs typeface="Arial"/>
              </a:defRPr>
            </a:pPr>
            <a:r>
              <a:rPr sz="2025" b="0">
                <a:solidFill>
                  <a:srgbClr val="183947"/>
                </a:solidFill>
                <a:latin typeface="Arial"/>
                <a:ea typeface="Arial"/>
                <a:cs typeface="Arial"/>
              </a:rPr>
              <a:t>aciertos residuales</a:t>
            </a:r>
          </a:p>
          <a:p xmlns:a="http://schemas.openxmlformats.org/drawingml/2006/main">
            <a:pPr>
              <a:defRPr sz="2025" b="0">
                <a:solidFill>
                  <a:srgbClr val="183947"/>
                </a:solidFill>
                <a:latin typeface="Arial"/>
                <a:ea typeface="Arial"/>
                <a:cs typeface="Arial"/>
              </a:defRPr>
            </a:pPr>
            <a:r>
              <a:rPr sz="2025" b="0">
                <a:solidFill>
                  <a:srgbClr val="183947"/>
                </a:solidFill>
                <a:latin typeface="Arial"/>
                <a:ea typeface="Arial"/>
                <a:cs typeface="Arial"/>
              </a:rPr>
              <a:t>30 textos</a:t>
            </a:r>
          </a:p>
        </p:txBody>
      </p:sp>
      <p:sp>
        <p:nvSpPr>
          <p:cNvPr id="6" name="">
            <a:extLst xmlns:a="http://schemas.openxmlformats.org/drawingml/2006/main">
              <a:ext uri="{FF2B5EF4-FFF2-40B4-BE49-F238E27FC236}">
                <a16:creationId xmlns:a16="http://schemas.microsoft.com/office/drawing/2014/main" id="{86891FB4-6515-4CB4-8133-BE5750EB4560}"/>
              </a:ext>
            </a:extLst>
          </p:cNvPr>
          <p:cNvSpPr>
            <a:spLocks xmlns:a="http://schemas.openxmlformats.org/drawingml/2006/main" noGrp="1"/>
          </p:cNvSpPr>
          <p:nvPr/>
        </p:nvSpPr>
        <p:spPr>
          <a:xfrm xmlns:a="http://schemas.openxmlformats.org/drawingml/2006/main">
            <a:off x="8620125" y="404812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572"/>
                </a:solidFill>
                <a:latin typeface="Arial"/>
                <a:ea typeface="Arial"/>
                <a:cs typeface="Arial"/>
              </a:defRPr>
            </a:pPr>
            <a:r>
              <a:rPr sz="1800" b="0">
                <a:solidFill>
                  <a:srgbClr val="526572"/>
                </a:solidFill>
                <a:latin typeface="Arial"/>
                <a:ea typeface="Arial"/>
                <a:cs typeface="Arial"/>
              </a:rPr>
              <a:t>Resumen descriptivo</a:t>
            </a:r>
          </a:p>
        </p:txBody>
      </p:sp>
      <p:sp>
        <p:nvSpPr>
          <p:cNvPr id="7" name="">
            <a:extLst xmlns:a="http://schemas.openxmlformats.org/drawingml/2006/main">
              <a:ext uri="{FF2B5EF4-FFF2-40B4-BE49-F238E27FC236}">
                <a16:creationId xmlns:a16="http://schemas.microsoft.com/office/drawing/2014/main" id="{CD8703A9-DE95-495A-9F03-F8F51F133B06}"/>
              </a:ext>
            </a:extLst>
          </p:cNvPr>
          <p:cNvSpPr>
            <a:spLocks xmlns:a="http://schemas.openxmlformats.org/drawingml/2006/main" noGrp="1"/>
          </p:cNvSpPr>
          <p:nvPr/>
        </p:nvSpPr>
        <p:spPr>
          <a:xfrm xmlns:a="http://schemas.openxmlformats.org/drawingml/2006/main">
            <a:off x="685800" y="5695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947"/>
                </a:solidFill>
                <a:latin typeface="Arial"/>
                <a:ea typeface="Arial"/>
                <a:cs typeface="Arial"/>
              </a:defRPr>
            </a:pPr>
            <a:r>
              <a:rPr sz="2100" b="1">
                <a:solidFill>
                  <a:srgbClr val="183947"/>
                </a:solidFill>
                <a:latin typeface="Arial"/>
                <a:ea typeface="Arial"/>
                <a:cs typeface="Arial"/>
              </a:rPr>
              <a:t>Sin ventaja estadísticamente respaldada en estas comparaciones</a:t>
            </a:r>
          </a:p>
        </p:txBody>
      </p:sp>
    </p:spTree>
    <p:extLst>
      <p:ext uri="{BB962C8B-B14F-4D97-AF65-F5344CB8AC3E}">
        <p14:creationId xmlns:p14="http://schemas.microsoft.com/office/powerpoint/2010/main" val="18010443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303224-D922-4525-95FA-91265F0AC885}"/>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947"/>
                </a:solidFill>
                <a:latin typeface="Arial"/>
                <a:ea typeface="Arial"/>
                <a:cs typeface="Arial"/>
              </a:defRPr>
            </a:pPr>
            <a:r>
              <a:rPr sz="3450" b="1">
                <a:solidFill>
                  <a:srgbClr val="183947"/>
                </a:solidFill>
                <a:latin typeface="Arial"/>
                <a:ea typeface="Arial"/>
                <a:cs typeface="Arial"/>
              </a:rPr>
              <a:t>Reproducción y límites del piloto</a:t>
            </a:r>
          </a:p>
        </p:txBody>
      </p:sp>
      <p:sp>
        <p:nvSpPr>
          <p:cNvPr id="2" name="">
            <a:extLst xmlns:a="http://schemas.openxmlformats.org/drawingml/2006/main">
              <a:ext uri="{FF2B5EF4-FFF2-40B4-BE49-F238E27FC236}">
                <a16:creationId xmlns:a16="http://schemas.microsoft.com/office/drawing/2014/main" id="{99106029-CCAC-4DC2-AAEB-7131364D98C4}"/>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8258941-1150-4067-A7BD-1BB17A301716}"/>
              </a:ext>
            </a:extLst>
          </p:cNvPr>
          <p:cNvSpPr>
            <a:spLocks xmlns:a="http://schemas.openxmlformats.org/drawingml/2006/main" noGrp="1"/>
          </p:cNvSpPr>
          <p:nvPr/>
        </p:nvSpPr>
        <p:spPr>
          <a:xfrm xmlns:a="http://schemas.openxmlformats.org/drawingml/2006/main">
            <a:off x="685800" y="17145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5657A"/>
                </a:solidFill>
                <a:latin typeface="Arial"/>
                <a:ea typeface="Arial"/>
                <a:cs typeface="Arial"/>
              </a:defRPr>
            </a:pPr>
            <a:r>
              <a:rPr sz="1875" b="1">
                <a:solidFill>
                  <a:srgbClr val="25657A"/>
                </a:solidFill>
                <a:latin typeface="Arial"/>
                <a:ea typeface="Arial"/>
                <a:cs typeface="Arial"/>
              </a:rPr>
              <a:t>EVIDENCIA TÉCNICA</a:t>
            </a:r>
          </a:p>
        </p:txBody>
      </p:sp>
      <p:sp>
        <p:nvSpPr>
          <p:cNvPr id="4" name="">
            <a:extLst xmlns:a="http://schemas.openxmlformats.org/drawingml/2006/main">
              <a:ext uri="{FF2B5EF4-FFF2-40B4-BE49-F238E27FC236}">
                <a16:creationId xmlns:a16="http://schemas.microsoft.com/office/drawing/2014/main" id="{A1B6E22C-830C-4460-B06B-352F038D4DEC}"/>
              </a:ext>
            </a:extLst>
          </p:cNvPr>
          <p:cNvSpPr>
            <a:spLocks xmlns:a="http://schemas.openxmlformats.org/drawingml/2006/main" noGrp="1"/>
          </p:cNvSpPr>
          <p:nvPr/>
        </p:nvSpPr>
        <p:spPr>
          <a:xfrm xmlns:a="http://schemas.openxmlformats.org/drawingml/2006/main">
            <a:off x="685800" y="2476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947"/>
                </a:solidFill>
                <a:latin typeface="Arial"/>
                <a:ea typeface="Arial"/>
                <a:cs typeface="Arial"/>
              </a:defRPr>
            </a:pPr>
            <a:r>
              <a:rPr sz="2625" b="0">
                <a:solidFill>
                  <a:srgbClr val="183947"/>
                </a:solidFill>
                <a:latin typeface="Arial"/>
                <a:ea typeface="Arial"/>
                <a:cs typeface="Arial"/>
              </a:rPr>
              <a:t>3.240 arrays coinciden</a:t>
            </a:r>
          </a:p>
          <a:p xmlns:a="http://schemas.openxmlformats.org/drawingml/2006/main">
            <a:pPr>
              <a:defRPr sz="2625" b="0">
                <a:solidFill>
                  <a:srgbClr val="183947"/>
                </a:solidFill>
                <a:latin typeface="Arial"/>
                <a:ea typeface="Arial"/>
                <a:cs typeface="Arial"/>
              </a:defRPr>
            </a:pPr>
            <a:r>
              <a:rPr sz="2625" b="0">
                <a:solidFill>
                  <a:srgbClr val="183947"/>
                </a:solidFill>
                <a:latin typeface="Arial"/>
                <a:ea typeface="Arial"/>
                <a:cs typeface="Arial"/>
              </a:rPr>
              <a:t>23 tablas reproducidas</a:t>
            </a:r>
          </a:p>
        </p:txBody>
      </p:sp>
      <p:sp>
        <p:nvSpPr>
          <p:cNvPr id="5" name="">
            <a:extLst xmlns:a="http://schemas.openxmlformats.org/drawingml/2006/main">
              <a:ext uri="{FF2B5EF4-FFF2-40B4-BE49-F238E27FC236}">
                <a16:creationId xmlns:a16="http://schemas.microsoft.com/office/drawing/2014/main" id="{4F27BD0B-BECD-447D-9172-9DE7E677768A}"/>
              </a:ext>
            </a:extLst>
          </p:cNvPr>
          <p:cNvSpPr>
            <a:spLocks xmlns:a="http://schemas.openxmlformats.org/drawingml/2006/main" noGrp="1"/>
          </p:cNvSpPr>
          <p:nvPr/>
        </p:nvSpPr>
        <p:spPr>
          <a:xfrm xmlns:a="http://schemas.openxmlformats.org/drawingml/2006/main">
            <a:off x="685800" y="444817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2"/>
                </a:solidFill>
                <a:latin typeface="Arial"/>
                <a:ea typeface="Arial"/>
                <a:cs typeface="Arial"/>
              </a:defRPr>
            </a:pPr>
            <a:r>
              <a:rPr sz="1950" b="0">
                <a:solidFill>
                  <a:srgbClr val="526572"/>
                </a:solidFill>
                <a:latin typeface="Arial"/>
                <a:ea typeface="Arial"/>
                <a:cs typeface="Arial"/>
              </a:rPr>
              <a:t>Bajo las condiciones registradas</a:t>
            </a:r>
          </a:p>
        </p:txBody>
      </p:sp>
      <p:sp>
        <p:nvSpPr>
          <p:cNvPr id="6" name="">
            <a:extLst xmlns:a="http://schemas.openxmlformats.org/drawingml/2006/main">
              <a:ext uri="{FF2B5EF4-FFF2-40B4-BE49-F238E27FC236}">
                <a16:creationId xmlns:a16="http://schemas.microsoft.com/office/drawing/2014/main" id="{0043E5A6-D39F-41C0-96C4-C6029325AE6A}"/>
              </a:ext>
            </a:extLst>
          </p:cNvPr>
          <p:cNvSpPr>
            <a:spLocks xmlns:a="http://schemas.openxmlformats.org/drawingml/2006/main" noGrp="1"/>
          </p:cNvSpPr>
          <p:nvPr/>
        </p:nvSpPr>
        <p:spPr>
          <a:xfrm xmlns:a="http://schemas.openxmlformats.org/drawingml/2006/main">
            <a:off x="6762750" y="1714500"/>
            <a:ext cx="4743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58331"/>
                </a:solidFill>
                <a:latin typeface="Arial"/>
                <a:ea typeface="Arial"/>
                <a:cs typeface="Arial"/>
              </a:defRPr>
            </a:pPr>
            <a:r>
              <a:rPr sz="1875" b="1">
                <a:solidFill>
                  <a:srgbClr val="C58331"/>
                </a:solidFill>
                <a:latin typeface="Arial"/>
                <a:ea typeface="Arial"/>
                <a:cs typeface="Arial"/>
              </a:rPr>
              <a:t>LÍMITES DEL ESTUDIO</a:t>
            </a:r>
          </a:p>
        </p:txBody>
      </p:sp>
      <p:sp>
        <p:nvSpPr>
          <p:cNvPr id="7" name="">
            <a:extLst xmlns:a="http://schemas.openxmlformats.org/drawingml/2006/main">
              <a:ext uri="{FF2B5EF4-FFF2-40B4-BE49-F238E27FC236}">
                <a16:creationId xmlns:a16="http://schemas.microsoft.com/office/drawing/2014/main" id="{7F00F64B-8DB8-468F-8CE0-D68E75974D03}"/>
              </a:ext>
            </a:extLst>
          </p:cNvPr>
          <p:cNvSpPr>
            <a:spLocks xmlns:a="http://schemas.openxmlformats.org/drawingml/2006/main" noGrp="1"/>
          </p:cNvSpPr>
          <p:nvPr/>
        </p:nvSpPr>
        <p:spPr>
          <a:xfrm xmlns:a="http://schemas.openxmlformats.org/drawingml/2006/main">
            <a:off x="6762750" y="2476500"/>
            <a:ext cx="4667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Corpus pequeño y diseñado</a:t>
            </a:r>
          </a:p>
          <a:p xmlns:a="http://schemas.openxmlformats.org/drawingml/2006/main">
            <a:r>
              <a:t/>
            </a:r>
          </a:p>
          <a:p xmlns:a="http://schemas.openxmlformats.org/drawingml/2006/main">
            <a:pPr>
              <a:defRPr sz="2250" b="0">
                <a:solidFill>
                  <a:srgbClr val="183947"/>
                </a:solidFill>
                <a:latin typeface="Arial"/>
                <a:ea typeface="Arial"/>
                <a:cs typeface="Arial"/>
              </a:defRPr>
            </a:pPr>
            <a:r>
              <a:rPr sz="2250" b="0">
                <a:solidFill>
                  <a:srgbClr val="183947"/>
                </a:solidFill>
                <a:latin typeface="Arial"/>
                <a:ea typeface="Arial"/>
                <a:cs typeface="Arial"/>
              </a:rPr>
              <a:t>Soporte GxA y anotaciones abiertas</a:t>
            </a:r>
          </a:p>
        </p:txBody>
      </p:sp>
      <p:sp>
        <p:nvSpPr>
          <p:cNvPr id="8" name="">
            <a:extLst xmlns:a="http://schemas.openxmlformats.org/drawingml/2006/main">
              <a:ext uri="{FF2B5EF4-FFF2-40B4-BE49-F238E27FC236}">
                <a16:creationId xmlns:a16="http://schemas.microsoft.com/office/drawing/2014/main" id="{E2F375A1-D917-44E8-A474-04D0000609E6}"/>
              </a:ext>
            </a:extLst>
          </p:cNvPr>
          <p:cNvSpPr>
            <a:spLocks xmlns:a="http://schemas.openxmlformats.org/drawingml/2006/main" noGrp="1"/>
          </p:cNvSpPr>
          <p:nvPr/>
        </p:nvSpPr>
        <p:spPr>
          <a:xfrm xmlns:a="http://schemas.openxmlformats.org/drawingml/2006/main">
            <a:off x="685800" y="57245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947"/>
                </a:solidFill>
                <a:latin typeface="Arial"/>
                <a:ea typeface="Arial"/>
                <a:cs typeface="Arial"/>
              </a:defRPr>
            </a:pPr>
            <a:r>
              <a:rPr sz="2175" b="1">
                <a:solidFill>
                  <a:srgbClr val="183947"/>
                </a:solidFill>
                <a:latin typeface="Arial"/>
                <a:ea typeface="Arial"/>
                <a:cs typeface="Arial"/>
              </a:rPr>
              <a:t>La reproducción del cálculo no valida por sí sola la teoría</a:t>
            </a:r>
          </a:p>
        </p:txBody>
      </p:sp>
    </p:spTree>
    <p:extLst>
      <p:ext uri="{BB962C8B-B14F-4D97-AF65-F5344CB8AC3E}">
        <p14:creationId xmlns:p14="http://schemas.microsoft.com/office/powerpoint/2010/main" val="19274947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08BF2D-CCCC-420C-986D-96C70DF4CDA0}"/>
              </a:ext>
            </a:extLst>
          </p:cNvPr>
          <p:cNvSpPr>
            <a:spLocks xmlns:a="http://schemas.openxmlformats.org/drawingml/2006/main" noGrp="1"/>
          </p:cNvSpPr>
          <p:nvPr/>
        </p:nvSpPr>
        <p:spPr>
          <a:xfrm xmlns:a="http://schemas.openxmlformats.org/drawingml/2006/main">
            <a:off x="685800" y="4572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947"/>
                </a:solidFill>
                <a:latin typeface="Arial"/>
                <a:ea typeface="Arial"/>
                <a:cs typeface="Arial"/>
              </a:defRPr>
            </a:pPr>
            <a:r>
              <a:rPr sz="3450" b="1">
                <a:solidFill>
                  <a:srgbClr val="183947"/>
                </a:solidFill>
                <a:latin typeface="Arial"/>
                <a:ea typeface="Arial"/>
                <a:cs typeface="Arial"/>
              </a:rPr>
              <a:t>Aportación y aprendizajes</a:t>
            </a:r>
          </a:p>
        </p:txBody>
      </p:sp>
      <p:sp>
        <p:nvSpPr>
          <p:cNvPr id="2" name="">
            <a:extLst xmlns:a="http://schemas.openxmlformats.org/drawingml/2006/main">
              <a:ext uri="{FF2B5EF4-FFF2-40B4-BE49-F238E27FC236}">
                <a16:creationId xmlns:a16="http://schemas.microsoft.com/office/drawing/2014/main" id="{489B11A7-C0D9-41C5-8D70-08D5EEDCB426}"/>
              </a:ext>
            </a:extLst>
          </p:cNvPr>
          <p:cNvSpPr>
            <a:spLocks xmlns:a="http://schemas.openxmlformats.org/drawingml/2006/main" noGrp="1"/>
          </p:cNvSpPr>
          <p:nvPr/>
        </p:nvSpPr>
        <p:spPr>
          <a:xfrm xmlns:a="http://schemas.openxmlformats.org/drawingml/2006/main">
            <a:off x="11049000" y="62865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2"/>
                </a:solidFill>
                <a:latin typeface="Arial"/>
                <a:ea typeface="Arial"/>
                <a:cs typeface="Arial"/>
              </a:defRPr>
            </a:pPr>
            <a:r>
              <a:rPr sz="1350" b="0">
                <a:solidFill>
                  <a:srgbClr val="52657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12E5FDB-525A-4E69-BE53-378A3E93CBC0}"/>
              </a:ext>
            </a:extLst>
          </p:cNvPr>
          <p:cNvSpPr>
            <a:spLocks xmlns:a="http://schemas.openxmlformats.org/drawingml/2006/main" noGrp="1"/>
          </p:cNvSpPr>
          <p:nvPr/>
        </p:nvSpPr>
        <p:spPr>
          <a:xfrm xmlns:a="http://schemas.openxmlformats.org/drawingml/2006/main">
            <a:off x="685800" y="1714500"/>
            <a:ext cx="10820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5657A"/>
                </a:solidFill>
                <a:latin typeface="Arial"/>
                <a:ea typeface="Arial"/>
                <a:cs typeface="Arial"/>
              </a:defRPr>
            </a:pPr>
            <a:r>
              <a:rPr sz="2925" b="1">
                <a:solidFill>
                  <a:srgbClr val="25657A"/>
                </a:solidFill>
                <a:latin typeface="Arial"/>
                <a:ea typeface="Arial"/>
                <a:cs typeface="Arial"/>
              </a:rPr>
              <a:t>Una base empírica revisable</a:t>
            </a:r>
          </a:p>
          <a:p xmlns:a="http://schemas.openxmlformats.org/drawingml/2006/main">
            <a:pPr>
              <a:defRPr sz="2925" b="1">
                <a:solidFill>
                  <a:srgbClr val="25657A"/>
                </a:solidFill>
                <a:latin typeface="Arial"/>
                <a:ea typeface="Arial"/>
                <a:cs typeface="Arial"/>
              </a:defRPr>
            </a:pPr>
            <a:r>
              <a:rPr sz="2925" b="1">
                <a:solidFill>
                  <a:srgbClr val="25657A"/>
                </a:solidFill>
                <a:latin typeface="Arial"/>
                <a:ea typeface="Arial"/>
                <a:cs typeface="Arial"/>
              </a:rPr>
              <a:t>para AImotional Field Theory AFT8-15</a:t>
            </a:r>
          </a:p>
        </p:txBody>
      </p:sp>
      <p:sp>
        <p:nvSpPr>
          <p:cNvPr id="4" name="">
            <a:extLst xmlns:a="http://schemas.openxmlformats.org/drawingml/2006/main">
              <a:ext uri="{FF2B5EF4-FFF2-40B4-BE49-F238E27FC236}">
                <a16:creationId xmlns:a16="http://schemas.microsoft.com/office/drawing/2014/main" id="{BA9CCD83-0448-4594-81E3-2CDA9F975D8D}"/>
              </a:ext>
            </a:extLst>
          </p:cNvPr>
          <p:cNvSpPr>
            <a:spLocks xmlns:a="http://schemas.openxmlformats.org/drawingml/2006/main" noGrp="1"/>
          </p:cNvSpPr>
          <p:nvPr/>
        </p:nvSpPr>
        <p:spPr>
          <a:xfrm xmlns:a="http://schemas.openxmlformats.org/drawingml/2006/main">
            <a:off x="685800" y="33813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947"/>
                </a:solidFill>
                <a:latin typeface="Arial"/>
                <a:ea typeface="Arial"/>
                <a:cs typeface="Arial"/>
              </a:defRPr>
            </a:pPr>
            <a:r>
              <a:rPr sz="2325" b="1">
                <a:solidFill>
                  <a:srgbClr val="183947"/>
                </a:solidFill>
                <a:latin typeface="Arial"/>
                <a:ea typeface="Arial"/>
                <a:cs typeface="Arial"/>
              </a:rPr>
              <a:t>NLP</a:t>
            </a:r>
          </a:p>
        </p:txBody>
      </p:sp>
      <p:sp>
        <p:nvSpPr>
          <p:cNvPr id="5" name="">
            <a:extLst xmlns:a="http://schemas.openxmlformats.org/drawingml/2006/main">
              <a:ext uri="{FF2B5EF4-FFF2-40B4-BE49-F238E27FC236}">
                <a16:creationId xmlns:a16="http://schemas.microsoft.com/office/drawing/2014/main" id="{A426060D-C331-4C6A-89AB-8E3C6BAA7924}"/>
              </a:ext>
            </a:extLst>
          </p:cNvPr>
          <p:cNvSpPr>
            <a:spLocks xmlns:a="http://schemas.openxmlformats.org/drawingml/2006/main" noGrp="1"/>
          </p:cNvSpPr>
          <p:nvPr/>
        </p:nvSpPr>
        <p:spPr>
          <a:xfrm xmlns:a="http://schemas.openxmlformats.org/drawingml/2006/main">
            <a:off x="685800" y="40195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Tokenización, atención</a:t>
            </a:r>
          </a:p>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y modelos preentrenados</a:t>
            </a:r>
          </a:p>
        </p:txBody>
      </p:sp>
      <p:sp>
        <p:nvSpPr>
          <p:cNvPr id="6" name="">
            <a:extLst xmlns:a="http://schemas.openxmlformats.org/drawingml/2006/main">
              <a:ext uri="{FF2B5EF4-FFF2-40B4-BE49-F238E27FC236}">
                <a16:creationId xmlns:a16="http://schemas.microsoft.com/office/drawing/2014/main" id="{D8F0A0C1-DDDC-4B66-A3BC-2306F043245D}"/>
              </a:ext>
            </a:extLst>
          </p:cNvPr>
          <p:cNvSpPr>
            <a:spLocks xmlns:a="http://schemas.openxmlformats.org/drawingml/2006/main" noGrp="1"/>
          </p:cNvSpPr>
          <p:nvPr/>
        </p:nvSpPr>
        <p:spPr>
          <a:xfrm xmlns:a="http://schemas.openxmlformats.org/drawingml/2006/main">
            <a:off x="6762750" y="3381375"/>
            <a:ext cx="4743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947"/>
                </a:solidFill>
                <a:latin typeface="Arial"/>
                <a:ea typeface="Arial"/>
                <a:cs typeface="Arial"/>
              </a:defRPr>
            </a:pPr>
            <a:r>
              <a:rPr sz="2325" b="1">
                <a:solidFill>
                  <a:srgbClr val="183947"/>
                </a:solidFill>
                <a:latin typeface="Arial"/>
                <a:ea typeface="Arial"/>
                <a:cs typeface="Arial"/>
              </a:rPr>
              <a:t>ESTADÍSTICA</a:t>
            </a:r>
          </a:p>
        </p:txBody>
      </p:sp>
      <p:sp>
        <p:nvSpPr>
          <p:cNvPr id="7" name="">
            <a:extLst xmlns:a="http://schemas.openxmlformats.org/drawingml/2006/main">
              <a:ext uri="{FF2B5EF4-FFF2-40B4-BE49-F238E27FC236}">
                <a16:creationId xmlns:a16="http://schemas.microsoft.com/office/drawing/2014/main" id="{9A7D3DB5-96BA-4617-9CAE-9D8D9CFC4B8B}"/>
              </a:ext>
            </a:extLst>
          </p:cNvPr>
          <p:cNvSpPr>
            <a:spLocks xmlns:a="http://schemas.openxmlformats.org/drawingml/2006/main" noGrp="1"/>
          </p:cNvSpPr>
          <p:nvPr/>
        </p:nvSpPr>
        <p:spPr>
          <a:xfrm xmlns:a="http://schemas.openxmlformats.org/drawingml/2006/main">
            <a:off x="6762750" y="4019550"/>
            <a:ext cx="4743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Comparaciones, supuestos</a:t>
            </a:r>
          </a:p>
          <a:p xmlns:a="http://schemas.openxmlformats.org/drawingml/2006/main">
            <a:pPr>
              <a:defRPr sz="2175" b="0">
                <a:solidFill>
                  <a:srgbClr val="183947"/>
                </a:solidFill>
                <a:latin typeface="Arial"/>
                <a:ea typeface="Arial"/>
                <a:cs typeface="Arial"/>
              </a:defRPr>
            </a:pPr>
            <a:r>
              <a:rPr sz="2175" b="0">
                <a:solidFill>
                  <a:srgbClr val="183947"/>
                </a:solidFill>
                <a:latin typeface="Arial"/>
                <a:ea typeface="Arial"/>
                <a:cs typeface="Arial"/>
              </a:rPr>
              <a:t>y límites de inferencia</a:t>
            </a:r>
          </a:p>
        </p:txBody>
      </p:sp>
      <p:sp>
        <p:nvSpPr>
          <p:cNvPr id="8" name="">
            <a:extLst xmlns:a="http://schemas.openxmlformats.org/drawingml/2006/main">
              <a:ext uri="{FF2B5EF4-FFF2-40B4-BE49-F238E27FC236}">
                <a16:creationId xmlns:a16="http://schemas.microsoft.com/office/drawing/2014/main" id="{FFA234E6-0C95-4390-9B14-C34F8241FDE1}"/>
              </a:ext>
            </a:extLst>
          </p:cNvPr>
          <p:cNvSpPr>
            <a:spLocks xmlns:a="http://schemas.openxmlformats.org/drawingml/2006/main" noGrp="1"/>
          </p:cNvSpPr>
          <p:nvPr/>
        </p:nvSpPr>
        <p:spPr>
          <a:xfrm xmlns:a="http://schemas.openxmlformats.org/drawingml/2006/main">
            <a:off x="685800" y="57150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2"/>
                </a:solidFill>
                <a:latin typeface="Arial"/>
                <a:ea typeface="Arial"/>
                <a:cs typeface="Arial"/>
              </a:defRPr>
            </a:pPr>
            <a:r>
              <a:rPr sz="2025" b="0">
                <a:solidFill>
                  <a:srgbClr val="526572"/>
                </a:solidFill>
                <a:latin typeface="Arial"/>
                <a:ea typeface="Arial"/>
                <a:cs typeface="Arial"/>
              </a:rPr>
              <a:t>Siguiente paso: un experimento con criterios fijados y nuevos datos</a:t>
            </a:r>
          </a:p>
        </p:txBody>
      </p:sp>
    </p:spTree>
    <p:extLst>
      <p:ext uri="{BB962C8B-B14F-4D97-AF65-F5344CB8AC3E}">
        <p14:creationId xmlns:p14="http://schemas.microsoft.com/office/powerpoint/2010/main" val="1738554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2026-09-20T17:24:34.8310000Z</dcterms:created>
  <dcterms:modified xsi:type="dcterms:W3CDTF">2026-09-20T17:24:34.8310000Z</dcterms:modified>
</coreProperties>
</file>